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5" r:id="rId10"/>
    <p:sldId id="266" r:id="rId11"/>
    <p:sldId id="267" r:id="rId12"/>
    <p:sldId id="268" r:id="rId13"/>
    <p:sldId id="269" r:id="rId14"/>
    <p:sldId id="273"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56"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541670-1419-4006-B33A-06B3922AB905}" type="doc">
      <dgm:prSet loTypeId="urn:microsoft.com/office/officeart/2005/8/layout/process5" loCatId="process" qsTypeId="urn:microsoft.com/office/officeart/2005/8/quickstyle/3d3" qsCatId="3D" csTypeId="urn:microsoft.com/office/officeart/2005/8/colors/colorful1" csCatId="colorful" phldr="1"/>
      <dgm:spPr/>
      <dgm:t>
        <a:bodyPr/>
        <a:lstStyle/>
        <a:p>
          <a:endParaRPr lang="en-IN"/>
        </a:p>
      </dgm:t>
    </dgm:pt>
    <dgm:pt modelId="{771D800B-FCC8-4352-9B67-C10AAE58D8C7}">
      <dgm:prSet phldrT="[Text]"/>
      <dgm:spPr/>
      <dgm:t>
        <a:bodyPr/>
        <a:lstStyle/>
        <a:p>
          <a:r>
            <a:rPr lang="en-US" b="0" i="0" dirty="0"/>
            <a:t>Create draw area on screen</a:t>
          </a:r>
          <a:endParaRPr lang="en-IN" dirty="0"/>
        </a:p>
      </dgm:t>
    </dgm:pt>
    <dgm:pt modelId="{7B04E295-74EA-4700-9C80-6C3F65CF4B2E}" type="parTrans" cxnId="{DFC0896A-EC53-43C9-B2BF-A8F81F46D3B2}">
      <dgm:prSet/>
      <dgm:spPr/>
      <dgm:t>
        <a:bodyPr/>
        <a:lstStyle/>
        <a:p>
          <a:endParaRPr lang="en-IN"/>
        </a:p>
      </dgm:t>
    </dgm:pt>
    <dgm:pt modelId="{4EFEBD50-E98A-4753-B6C6-0B6BEA69C536}" type="sibTrans" cxnId="{DFC0896A-EC53-43C9-B2BF-A8F81F46D3B2}">
      <dgm:prSet/>
      <dgm:spPr/>
      <dgm:t>
        <a:bodyPr/>
        <a:lstStyle/>
        <a:p>
          <a:endParaRPr lang="en-IN"/>
        </a:p>
      </dgm:t>
    </dgm:pt>
    <dgm:pt modelId="{C718E043-651D-438B-9728-33F7CA01AEAA}">
      <dgm:prSet phldrT="[Text]"/>
      <dgm:spPr/>
      <dgm:t>
        <a:bodyPr/>
        <a:lstStyle/>
        <a:p>
          <a:r>
            <a:rPr lang="en-IN" b="0" i="0" dirty="0"/>
            <a:t>Check for user input</a:t>
          </a:r>
          <a:endParaRPr lang="en-IN" dirty="0"/>
        </a:p>
      </dgm:t>
    </dgm:pt>
    <dgm:pt modelId="{B31F5921-796F-4A3D-9085-EE244E9A63C5}" type="parTrans" cxnId="{A0DDD367-DF8A-42BA-BBA9-6CC517F0E4C7}">
      <dgm:prSet/>
      <dgm:spPr/>
      <dgm:t>
        <a:bodyPr/>
        <a:lstStyle/>
        <a:p>
          <a:endParaRPr lang="en-IN"/>
        </a:p>
      </dgm:t>
    </dgm:pt>
    <dgm:pt modelId="{33BBCE6D-A889-405C-A4E6-C1EBD2829575}" type="sibTrans" cxnId="{A0DDD367-DF8A-42BA-BBA9-6CC517F0E4C7}">
      <dgm:prSet/>
      <dgm:spPr/>
      <dgm:t>
        <a:bodyPr/>
        <a:lstStyle/>
        <a:p>
          <a:endParaRPr lang="en-IN"/>
        </a:p>
      </dgm:t>
    </dgm:pt>
    <dgm:pt modelId="{4FE2087E-82A1-442E-90E4-C59AE91A39EC}">
      <dgm:prSet phldrT="[Text]"/>
      <dgm:spPr/>
      <dgm:t>
        <a:bodyPr/>
        <a:lstStyle/>
        <a:p>
          <a:r>
            <a:rPr lang="en-US" b="0" i="0" dirty="0"/>
            <a:t>If “Y”, </a:t>
          </a:r>
          <a:r>
            <a:rPr lang="en-US" b="0" i="0" dirty="0" err="1"/>
            <a:t>gameover</a:t>
          </a:r>
          <a:r>
            <a:rPr lang="en-US" b="0" i="0" dirty="0"/>
            <a:t> else keep the food at old position​</a:t>
          </a:r>
          <a:endParaRPr lang="en-IN" dirty="0"/>
        </a:p>
      </dgm:t>
    </dgm:pt>
    <dgm:pt modelId="{E561338B-69D8-412F-835A-FA2359B1A334}" type="parTrans" cxnId="{243C7927-D394-4A7D-9309-FCB2621BFBD9}">
      <dgm:prSet/>
      <dgm:spPr/>
      <dgm:t>
        <a:bodyPr/>
        <a:lstStyle/>
        <a:p>
          <a:endParaRPr lang="en-IN"/>
        </a:p>
      </dgm:t>
    </dgm:pt>
    <dgm:pt modelId="{1AE60F44-B5F3-4B89-AF19-3A346486CE10}" type="sibTrans" cxnId="{243C7927-D394-4A7D-9309-FCB2621BFBD9}">
      <dgm:prSet/>
      <dgm:spPr/>
      <dgm:t>
        <a:bodyPr/>
        <a:lstStyle/>
        <a:p>
          <a:endParaRPr lang="en-IN"/>
        </a:p>
      </dgm:t>
    </dgm:pt>
    <dgm:pt modelId="{23AE556A-8D6D-4B1D-B651-BBB46AFB44B2}">
      <dgm:prSet phldrT="[Text]"/>
      <dgm:spPr/>
      <dgm:t>
        <a:bodyPr/>
        <a:lstStyle/>
        <a:p>
          <a:pPr>
            <a:buFont typeface="Arial" panose="020B0604020202020204" pitchFamily="34" charset="0"/>
            <a:buChar char="•"/>
          </a:pPr>
          <a:r>
            <a:rPr lang="en-US" b="0" i="0" dirty="0"/>
            <a:t>Increase snake length by 1 after a fruit is eaten​</a:t>
          </a:r>
          <a:endParaRPr lang="en-IN" dirty="0"/>
        </a:p>
      </dgm:t>
    </dgm:pt>
    <dgm:pt modelId="{508E17B0-346A-4160-81E6-ACCF20E93FBF}" type="parTrans" cxnId="{E82D82BD-5FCB-4E9F-B712-A28739D8840F}">
      <dgm:prSet/>
      <dgm:spPr/>
      <dgm:t>
        <a:bodyPr/>
        <a:lstStyle/>
        <a:p>
          <a:endParaRPr lang="en-IN"/>
        </a:p>
      </dgm:t>
    </dgm:pt>
    <dgm:pt modelId="{0788A300-F33E-4F49-B847-B3D272E7F8D0}" type="sibTrans" cxnId="{E82D82BD-5FCB-4E9F-B712-A28739D8840F}">
      <dgm:prSet/>
      <dgm:spPr/>
      <dgm:t>
        <a:bodyPr/>
        <a:lstStyle/>
        <a:p>
          <a:endParaRPr lang="en-IN"/>
        </a:p>
      </dgm:t>
    </dgm:pt>
    <dgm:pt modelId="{E07DC255-D8A6-4514-97F3-AED4F0E9BCA2}">
      <dgm:prSet phldrT="[Text]"/>
      <dgm:spPr/>
      <dgm:t>
        <a:bodyPr/>
        <a:lstStyle/>
        <a:p>
          <a:r>
            <a:rPr lang="en-US" b="0" i="0" dirty="0"/>
            <a:t>Check if head and wall position is same</a:t>
          </a:r>
          <a:endParaRPr lang="en-IN" dirty="0"/>
        </a:p>
      </dgm:t>
    </dgm:pt>
    <dgm:pt modelId="{BE081259-FB77-44A1-A716-1F71E5A35A92}" type="parTrans" cxnId="{ABEC3535-8AE1-416B-A244-D07CB574243E}">
      <dgm:prSet/>
      <dgm:spPr/>
      <dgm:t>
        <a:bodyPr/>
        <a:lstStyle/>
        <a:p>
          <a:endParaRPr lang="en-IN"/>
        </a:p>
      </dgm:t>
    </dgm:pt>
    <dgm:pt modelId="{694BAE3E-B85C-4FA9-9720-63F21BDFAB58}" type="sibTrans" cxnId="{ABEC3535-8AE1-416B-A244-D07CB574243E}">
      <dgm:prSet/>
      <dgm:spPr/>
      <dgm:t>
        <a:bodyPr/>
        <a:lstStyle/>
        <a:p>
          <a:endParaRPr lang="en-IN"/>
        </a:p>
      </dgm:t>
    </dgm:pt>
    <dgm:pt modelId="{91B8BD1D-A90D-4F87-9B2A-D1C60F54FB05}">
      <dgm:prSet phldrT="[Text]"/>
      <dgm:spPr/>
      <dgm:t>
        <a:bodyPr/>
        <a:lstStyle/>
        <a:p>
          <a:pPr>
            <a:buFont typeface="Arial" panose="020B0604020202020204" pitchFamily="34" charset="0"/>
            <a:buChar char="•"/>
          </a:pPr>
          <a:r>
            <a:rPr lang="en-US" b="0" i="0" dirty="0"/>
            <a:t>Check if the head touched the tail​</a:t>
          </a:r>
          <a:endParaRPr lang="en-IN" dirty="0"/>
        </a:p>
      </dgm:t>
    </dgm:pt>
    <dgm:pt modelId="{7FB1873B-E602-4EBF-A179-6E0AB467E355}" type="parTrans" cxnId="{D269EB0E-77ED-4A70-B2A2-459FDE0B3847}">
      <dgm:prSet/>
      <dgm:spPr/>
      <dgm:t>
        <a:bodyPr/>
        <a:lstStyle/>
        <a:p>
          <a:endParaRPr lang="en-IN"/>
        </a:p>
      </dgm:t>
    </dgm:pt>
    <dgm:pt modelId="{2BBC0FDD-C504-44EE-89F0-B990A6B4AF9B}" type="sibTrans" cxnId="{D269EB0E-77ED-4A70-B2A2-459FDE0B3847}">
      <dgm:prSet/>
      <dgm:spPr/>
      <dgm:t>
        <a:bodyPr/>
        <a:lstStyle/>
        <a:p>
          <a:endParaRPr lang="en-IN"/>
        </a:p>
      </dgm:t>
    </dgm:pt>
    <dgm:pt modelId="{8776A411-904D-4C18-A8EA-2195ABD934E9}">
      <dgm:prSet phldrT="[Text]"/>
      <dgm:spPr/>
      <dgm:t>
        <a:bodyPr/>
        <a:lstStyle/>
        <a:p>
          <a:pPr>
            <a:buFont typeface="Arial" panose="020B0604020202020204" pitchFamily="34" charset="0"/>
            <a:buChar char="•"/>
          </a:pPr>
          <a:r>
            <a:rPr lang="en-US" b="0" i="0" dirty="0"/>
            <a:t>If Yes, display game over and start again​</a:t>
          </a:r>
          <a:endParaRPr lang="en-IN" dirty="0"/>
        </a:p>
      </dgm:t>
    </dgm:pt>
    <dgm:pt modelId="{EC213D13-EFC9-42A8-B90A-2346795961FD}" type="parTrans" cxnId="{3C5C4704-3768-4204-A786-9A01DA3BCF3E}">
      <dgm:prSet/>
      <dgm:spPr/>
      <dgm:t>
        <a:bodyPr/>
        <a:lstStyle/>
        <a:p>
          <a:endParaRPr lang="en-IN"/>
        </a:p>
      </dgm:t>
    </dgm:pt>
    <dgm:pt modelId="{50E64C9C-2B2E-4B11-B651-4D48FD5FE069}" type="sibTrans" cxnId="{3C5C4704-3768-4204-A786-9A01DA3BCF3E}">
      <dgm:prSet/>
      <dgm:spPr/>
      <dgm:t>
        <a:bodyPr/>
        <a:lstStyle/>
        <a:p>
          <a:endParaRPr lang="en-IN"/>
        </a:p>
      </dgm:t>
    </dgm:pt>
    <dgm:pt modelId="{CEF2A799-58F3-4716-8D06-640E0D0BD23E}">
      <dgm:prSet/>
      <dgm:spPr/>
      <dgm:t>
        <a:bodyPr/>
        <a:lstStyle/>
        <a:p>
          <a:r>
            <a:rPr lang="en-US" dirty="0"/>
            <a:t>Start</a:t>
          </a:r>
          <a:endParaRPr lang="en-IN" dirty="0"/>
        </a:p>
      </dgm:t>
    </dgm:pt>
    <dgm:pt modelId="{236E7846-43E9-4D71-A4B4-4C4CC913C28B}" type="parTrans" cxnId="{EF92B537-1C7F-46DA-84F1-0092F0DEB671}">
      <dgm:prSet/>
      <dgm:spPr/>
      <dgm:t>
        <a:bodyPr/>
        <a:lstStyle/>
        <a:p>
          <a:endParaRPr lang="en-IN"/>
        </a:p>
      </dgm:t>
    </dgm:pt>
    <dgm:pt modelId="{7413F280-7277-4F18-8CA5-A5A781586751}" type="sibTrans" cxnId="{EF92B537-1C7F-46DA-84F1-0092F0DEB671}">
      <dgm:prSet/>
      <dgm:spPr/>
      <dgm:t>
        <a:bodyPr/>
        <a:lstStyle/>
        <a:p>
          <a:endParaRPr lang="en-IN"/>
        </a:p>
      </dgm:t>
    </dgm:pt>
    <dgm:pt modelId="{3C46F00C-45DD-4766-9CB6-21B5D80C06F8}" type="pres">
      <dgm:prSet presAssocID="{0B541670-1419-4006-B33A-06B3922AB905}" presName="diagram" presStyleCnt="0">
        <dgm:presLayoutVars>
          <dgm:dir/>
          <dgm:resizeHandles val="exact"/>
        </dgm:presLayoutVars>
      </dgm:prSet>
      <dgm:spPr/>
    </dgm:pt>
    <dgm:pt modelId="{BB3C2D42-2DFB-4955-B6AE-9FB08E96AB23}" type="pres">
      <dgm:prSet presAssocID="{CEF2A799-58F3-4716-8D06-640E0D0BD23E}" presName="node" presStyleLbl="node1" presStyleIdx="0" presStyleCnt="8">
        <dgm:presLayoutVars>
          <dgm:bulletEnabled val="1"/>
        </dgm:presLayoutVars>
      </dgm:prSet>
      <dgm:spPr/>
    </dgm:pt>
    <dgm:pt modelId="{0ECA986C-CA02-4699-91B3-E300A0F5A341}" type="pres">
      <dgm:prSet presAssocID="{7413F280-7277-4F18-8CA5-A5A781586751}" presName="sibTrans" presStyleLbl="sibTrans2D1" presStyleIdx="0" presStyleCnt="7"/>
      <dgm:spPr/>
    </dgm:pt>
    <dgm:pt modelId="{FF260675-2D05-481C-9AB8-9535703D5631}" type="pres">
      <dgm:prSet presAssocID="{7413F280-7277-4F18-8CA5-A5A781586751}" presName="connectorText" presStyleLbl="sibTrans2D1" presStyleIdx="0" presStyleCnt="7"/>
      <dgm:spPr/>
    </dgm:pt>
    <dgm:pt modelId="{1E419BFA-8DC6-4143-ADAE-E2259CAB127D}" type="pres">
      <dgm:prSet presAssocID="{771D800B-FCC8-4352-9B67-C10AAE58D8C7}" presName="node" presStyleLbl="node1" presStyleIdx="1" presStyleCnt="8">
        <dgm:presLayoutVars>
          <dgm:bulletEnabled val="1"/>
        </dgm:presLayoutVars>
      </dgm:prSet>
      <dgm:spPr/>
    </dgm:pt>
    <dgm:pt modelId="{2BAB527B-9E69-4FD4-954F-49C1FD94FE33}" type="pres">
      <dgm:prSet presAssocID="{4EFEBD50-E98A-4753-B6C6-0B6BEA69C536}" presName="sibTrans" presStyleLbl="sibTrans2D1" presStyleIdx="1" presStyleCnt="7"/>
      <dgm:spPr/>
    </dgm:pt>
    <dgm:pt modelId="{D7DE146B-8F82-4AEB-90C1-2B26F4331D1B}" type="pres">
      <dgm:prSet presAssocID="{4EFEBD50-E98A-4753-B6C6-0B6BEA69C536}" presName="connectorText" presStyleLbl="sibTrans2D1" presStyleIdx="1" presStyleCnt="7"/>
      <dgm:spPr/>
    </dgm:pt>
    <dgm:pt modelId="{552E960F-4563-4534-903A-E4D1A55FE01E}" type="pres">
      <dgm:prSet presAssocID="{C718E043-651D-438B-9728-33F7CA01AEAA}" presName="node" presStyleLbl="node1" presStyleIdx="2" presStyleCnt="8">
        <dgm:presLayoutVars>
          <dgm:bulletEnabled val="1"/>
        </dgm:presLayoutVars>
      </dgm:prSet>
      <dgm:spPr/>
    </dgm:pt>
    <dgm:pt modelId="{0BB5400F-AE6D-4A62-BDC6-DEE7E092FC67}" type="pres">
      <dgm:prSet presAssocID="{33BBCE6D-A889-405C-A4E6-C1EBD2829575}" presName="sibTrans" presStyleLbl="sibTrans2D1" presStyleIdx="2" presStyleCnt="7"/>
      <dgm:spPr/>
    </dgm:pt>
    <dgm:pt modelId="{873005D6-C0A3-43D4-B893-A4E29A38B194}" type="pres">
      <dgm:prSet presAssocID="{33BBCE6D-A889-405C-A4E6-C1EBD2829575}" presName="connectorText" presStyleLbl="sibTrans2D1" presStyleIdx="2" presStyleCnt="7"/>
      <dgm:spPr/>
    </dgm:pt>
    <dgm:pt modelId="{3348ACBE-9A89-494D-A1A1-B1989B339359}" type="pres">
      <dgm:prSet presAssocID="{4FE2087E-82A1-442E-90E4-C59AE91A39EC}" presName="node" presStyleLbl="node1" presStyleIdx="3" presStyleCnt="8">
        <dgm:presLayoutVars>
          <dgm:bulletEnabled val="1"/>
        </dgm:presLayoutVars>
      </dgm:prSet>
      <dgm:spPr/>
    </dgm:pt>
    <dgm:pt modelId="{35EA45D1-2B1B-41C9-A093-7B6EF7094A28}" type="pres">
      <dgm:prSet presAssocID="{1AE60F44-B5F3-4B89-AF19-3A346486CE10}" presName="sibTrans" presStyleLbl="sibTrans2D1" presStyleIdx="3" presStyleCnt="7"/>
      <dgm:spPr/>
    </dgm:pt>
    <dgm:pt modelId="{0E339A19-3C1B-4D9A-B483-5CE218A0F876}" type="pres">
      <dgm:prSet presAssocID="{1AE60F44-B5F3-4B89-AF19-3A346486CE10}" presName="connectorText" presStyleLbl="sibTrans2D1" presStyleIdx="3" presStyleCnt="7"/>
      <dgm:spPr/>
    </dgm:pt>
    <dgm:pt modelId="{764ABCFD-9D01-4F33-A58D-6FB513701027}" type="pres">
      <dgm:prSet presAssocID="{23AE556A-8D6D-4B1D-B651-BBB46AFB44B2}" presName="node" presStyleLbl="node1" presStyleIdx="4" presStyleCnt="8">
        <dgm:presLayoutVars>
          <dgm:bulletEnabled val="1"/>
        </dgm:presLayoutVars>
      </dgm:prSet>
      <dgm:spPr/>
    </dgm:pt>
    <dgm:pt modelId="{D8100150-D9B2-4C1A-AE5C-9FDD40AC4E6B}" type="pres">
      <dgm:prSet presAssocID="{0788A300-F33E-4F49-B847-B3D272E7F8D0}" presName="sibTrans" presStyleLbl="sibTrans2D1" presStyleIdx="4" presStyleCnt="7"/>
      <dgm:spPr/>
    </dgm:pt>
    <dgm:pt modelId="{25D6F4E3-8960-42DE-824F-A648D9324BA4}" type="pres">
      <dgm:prSet presAssocID="{0788A300-F33E-4F49-B847-B3D272E7F8D0}" presName="connectorText" presStyleLbl="sibTrans2D1" presStyleIdx="4" presStyleCnt="7"/>
      <dgm:spPr/>
    </dgm:pt>
    <dgm:pt modelId="{EA41B07B-57B6-4A87-80B5-F9DCC8979E10}" type="pres">
      <dgm:prSet presAssocID="{E07DC255-D8A6-4514-97F3-AED4F0E9BCA2}" presName="node" presStyleLbl="node1" presStyleIdx="5" presStyleCnt="8">
        <dgm:presLayoutVars>
          <dgm:bulletEnabled val="1"/>
        </dgm:presLayoutVars>
      </dgm:prSet>
      <dgm:spPr/>
    </dgm:pt>
    <dgm:pt modelId="{285116D7-46D9-49D2-AC22-4D2FDDADF750}" type="pres">
      <dgm:prSet presAssocID="{694BAE3E-B85C-4FA9-9720-63F21BDFAB58}" presName="sibTrans" presStyleLbl="sibTrans2D1" presStyleIdx="5" presStyleCnt="7"/>
      <dgm:spPr/>
    </dgm:pt>
    <dgm:pt modelId="{FC339D05-63CE-424D-94EB-95B2BF8D7320}" type="pres">
      <dgm:prSet presAssocID="{694BAE3E-B85C-4FA9-9720-63F21BDFAB58}" presName="connectorText" presStyleLbl="sibTrans2D1" presStyleIdx="5" presStyleCnt="7"/>
      <dgm:spPr/>
    </dgm:pt>
    <dgm:pt modelId="{27F45DBF-02CC-4096-AC92-5C67DF2C9ECD}" type="pres">
      <dgm:prSet presAssocID="{91B8BD1D-A90D-4F87-9B2A-D1C60F54FB05}" presName="node" presStyleLbl="node1" presStyleIdx="6" presStyleCnt="8">
        <dgm:presLayoutVars>
          <dgm:bulletEnabled val="1"/>
        </dgm:presLayoutVars>
      </dgm:prSet>
      <dgm:spPr/>
    </dgm:pt>
    <dgm:pt modelId="{158D5BF7-7F43-4D67-B038-9CD78D3E186D}" type="pres">
      <dgm:prSet presAssocID="{2BBC0FDD-C504-44EE-89F0-B990A6B4AF9B}" presName="sibTrans" presStyleLbl="sibTrans2D1" presStyleIdx="6" presStyleCnt="7"/>
      <dgm:spPr/>
    </dgm:pt>
    <dgm:pt modelId="{4121FFF9-954A-4086-8F28-F34A0C446152}" type="pres">
      <dgm:prSet presAssocID="{2BBC0FDD-C504-44EE-89F0-B990A6B4AF9B}" presName="connectorText" presStyleLbl="sibTrans2D1" presStyleIdx="6" presStyleCnt="7"/>
      <dgm:spPr/>
    </dgm:pt>
    <dgm:pt modelId="{ECF413B4-73C4-4C62-8694-FAF2E4DF6C59}" type="pres">
      <dgm:prSet presAssocID="{8776A411-904D-4C18-A8EA-2195ABD934E9}" presName="node" presStyleLbl="node1" presStyleIdx="7" presStyleCnt="8">
        <dgm:presLayoutVars>
          <dgm:bulletEnabled val="1"/>
        </dgm:presLayoutVars>
      </dgm:prSet>
      <dgm:spPr/>
    </dgm:pt>
  </dgm:ptLst>
  <dgm:cxnLst>
    <dgm:cxn modelId="{3C5C4704-3768-4204-A786-9A01DA3BCF3E}" srcId="{0B541670-1419-4006-B33A-06B3922AB905}" destId="{8776A411-904D-4C18-A8EA-2195ABD934E9}" srcOrd="7" destOrd="0" parTransId="{EC213D13-EFC9-42A8-B90A-2346795961FD}" sibTransId="{50E64C9C-2B2E-4B11-B651-4D48FD5FE069}"/>
    <dgm:cxn modelId="{D269EB0E-77ED-4A70-B2A2-459FDE0B3847}" srcId="{0B541670-1419-4006-B33A-06B3922AB905}" destId="{91B8BD1D-A90D-4F87-9B2A-D1C60F54FB05}" srcOrd="6" destOrd="0" parTransId="{7FB1873B-E602-4EBF-A179-6E0AB467E355}" sibTransId="{2BBC0FDD-C504-44EE-89F0-B990A6B4AF9B}"/>
    <dgm:cxn modelId="{BCDD921E-39C3-41F7-86D4-2A5F1EA35112}" type="presOf" srcId="{91B8BD1D-A90D-4F87-9B2A-D1C60F54FB05}" destId="{27F45DBF-02CC-4096-AC92-5C67DF2C9ECD}" srcOrd="0" destOrd="0" presId="urn:microsoft.com/office/officeart/2005/8/layout/process5"/>
    <dgm:cxn modelId="{243C7927-D394-4A7D-9309-FCB2621BFBD9}" srcId="{0B541670-1419-4006-B33A-06B3922AB905}" destId="{4FE2087E-82A1-442E-90E4-C59AE91A39EC}" srcOrd="3" destOrd="0" parTransId="{E561338B-69D8-412F-835A-FA2359B1A334}" sibTransId="{1AE60F44-B5F3-4B89-AF19-3A346486CE10}"/>
    <dgm:cxn modelId="{4F72852D-6AE8-4C13-B692-190AF1C3299B}" type="presOf" srcId="{1AE60F44-B5F3-4B89-AF19-3A346486CE10}" destId="{0E339A19-3C1B-4D9A-B483-5CE218A0F876}" srcOrd="1" destOrd="0" presId="urn:microsoft.com/office/officeart/2005/8/layout/process5"/>
    <dgm:cxn modelId="{D276682F-9F02-41BF-B000-7510F4F2096D}" type="presOf" srcId="{7413F280-7277-4F18-8CA5-A5A781586751}" destId="{0ECA986C-CA02-4699-91B3-E300A0F5A341}" srcOrd="0" destOrd="0" presId="urn:microsoft.com/office/officeart/2005/8/layout/process5"/>
    <dgm:cxn modelId="{827E5C32-2209-46B4-978F-86E5D9F9DFD9}" type="presOf" srcId="{CEF2A799-58F3-4716-8D06-640E0D0BD23E}" destId="{BB3C2D42-2DFB-4955-B6AE-9FB08E96AB23}" srcOrd="0" destOrd="0" presId="urn:microsoft.com/office/officeart/2005/8/layout/process5"/>
    <dgm:cxn modelId="{CA997732-AF89-4AF1-920C-29506E5F2FA6}" type="presOf" srcId="{4EFEBD50-E98A-4753-B6C6-0B6BEA69C536}" destId="{D7DE146B-8F82-4AEB-90C1-2B26F4331D1B}" srcOrd="1" destOrd="0" presId="urn:microsoft.com/office/officeart/2005/8/layout/process5"/>
    <dgm:cxn modelId="{D96DCF34-A18B-4DAA-9959-076D7D9015AC}" type="presOf" srcId="{23AE556A-8D6D-4B1D-B651-BBB46AFB44B2}" destId="{764ABCFD-9D01-4F33-A58D-6FB513701027}" srcOrd="0" destOrd="0" presId="urn:microsoft.com/office/officeart/2005/8/layout/process5"/>
    <dgm:cxn modelId="{ABEC3535-8AE1-416B-A244-D07CB574243E}" srcId="{0B541670-1419-4006-B33A-06B3922AB905}" destId="{E07DC255-D8A6-4514-97F3-AED4F0E9BCA2}" srcOrd="5" destOrd="0" parTransId="{BE081259-FB77-44A1-A716-1F71E5A35A92}" sibTransId="{694BAE3E-B85C-4FA9-9720-63F21BDFAB58}"/>
    <dgm:cxn modelId="{EF92B537-1C7F-46DA-84F1-0092F0DEB671}" srcId="{0B541670-1419-4006-B33A-06B3922AB905}" destId="{CEF2A799-58F3-4716-8D06-640E0D0BD23E}" srcOrd="0" destOrd="0" parTransId="{236E7846-43E9-4D71-A4B4-4C4CC913C28B}" sibTransId="{7413F280-7277-4F18-8CA5-A5A781586751}"/>
    <dgm:cxn modelId="{1ABCAE40-343A-4594-AD19-EB1ABACE4F5E}" type="presOf" srcId="{33BBCE6D-A889-405C-A4E6-C1EBD2829575}" destId="{0BB5400F-AE6D-4A62-BDC6-DEE7E092FC67}" srcOrd="0" destOrd="0" presId="urn:microsoft.com/office/officeart/2005/8/layout/process5"/>
    <dgm:cxn modelId="{80E36365-AF3A-47B8-A27F-5A9BED0061C8}" type="presOf" srcId="{0788A300-F33E-4F49-B847-B3D272E7F8D0}" destId="{D8100150-D9B2-4C1A-AE5C-9FDD40AC4E6B}" srcOrd="0" destOrd="0" presId="urn:microsoft.com/office/officeart/2005/8/layout/process5"/>
    <dgm:cxn modelId="{A0DDD367-DF8A-42BA-BBA9-6CC517F0E4C7}" srcId="{0B541670-1419-4006-B33A-06B3922AB905}" destId="{C718E043-651D-438B-9728-33F7CA01AEAA}" srcOrd="2" destOrd="0" parTransId="{B31F5921-796F-4A3D-9085-EE244E9A63C5}" sibTransId="{33BBCE6D-A889-405C-A4E6-C1EBD2829575}"/>
    <dgm:cxn modelId="{DFC0896A-EC53-43C9-B2BF-A8F81F46D3B2}" srcId="{0B541670-1419-4006-B33A-06B3922AB905}" destId="{771D800B-FCC8-4352-9B67-C10AAE58D8C7}" srcOrd="1" destOrd="0" parTransId="{7B04E295-74EA-4700-9C80-6C3F65CF4B2E}" sibTransId="{4EFEBD50-E98A-4753-B6C6-0B6BEA69C536}"/>
    <dgm:cxn modelId="{A6B39050-D89A-4D83-A103-DF2A5202895D}" type="presOf" srcId="{C718E043-651D-438B-9728-33F7CA01AEAA}" destId="{552E960F-4563-4534-903A-E4D1A55FE01E}" srcOrd="0" destOrd="0" presId="urn:microsoft.com/office/officeart/2005/8/layout/process5"/>
    <dgm:cxn modelId="{75E4B487-3E3B-44BC-89E6-AE8C77AF1F60}" type="presOf" srcId="{771D800B-FCC8-4352-9B67-C10AAE58D8C7}" destId="{1E419BFA-8DC6-4143-ADAE-E2259CAB127D}" srcOrd="0" destOrd="0" presId="urn:microsoft.com/office/officeart/2005/8/layout/process5"/>
    <dgm:cxn modelId="{67C85192-A61A-488E-80AF-1ED43B32BEA3}" type="presOf" srcId="{0788A300-F33E-4F49-B847-B3D272E7F8D0}" destId="{25D6F4E3-8960-42DE-824F-A648D9324BA4}" srcOrd="1" destOrd="0" presId="urn:microsoft.com/office/officeart/2005/8/layout/process5"/>
    <dgm:cxn modelId="{C1A0D19B-3704-4D42-B11C-48F74DB658B1}" type="presOf" srcId="{4EFEBD50-E98A-4753-B6C6-0B6BEA69C536}" destId="{2BAB527B-9E69-4FD4-954F-49C1FD94FE33}" srcOrd="0" destOrd="0" presId="urn:microsoft.com/office/officeart/2005/8/layout/process5"/>
    <dgm:cxn modelId="{06FE2CA3-A52C-421F-93C0-A14B234D7AB9}" type="presOf" srcId="{E07DC255-D8A6-4514-97F3-AED4F0E9BCA2}" destId="{EA41B07B-57B6-4A87-80B5-F9DCC8979E10}" srcOrd="0" destOrd="0" presId="urn:microsoft.com/office/officeart/2005/8/layout/process5"/>
    <dgm:cxn modelId="{5D340DAE-9849-40D4-B979-4F4230E6F6F4}" type="presOf" srcId="{694BAE3E-B85C-4FA9-9720-63F21BDFAB58}" destId="{FC339D05-63CE-424D-94EB-95B2BF8D7320}" srcOrd="1" destOrd="0" presId="urn:microsoft.com/office/officeart/2005/8/layout/process5"/>
    <dgm:cxn modelId="{556B1DAE-137E-4576-98EF-D45DA6CC6DE3}" type="presOf" srcId="{1AE60F44-B5F3-4B89-AF19-3A346486CE10}" destId="{35EA45D1-2B1B-41C9-A093-7B6EF7094A28}" srcOrd="0" destOrd="0" presId="urn:microsoft.com/office/officeart/2005/8/layout/process5"/>
    <dgm:cxn modelId="{8FCF80AE-8EC3-4C52-85CB-0B33C106552F}" type="presOf" srcId="{2BBC0FDD-C504-44EE-89F0-B990A6B4AF9B}" destId="{158D5BF7-7F43-4D67-B038-9CD78D3E186D}" srcOrd="0" destOrd="0" presId="urn:microsoft.com/office/officeart/2005/8/layout/process5"/>
    <dgm:cxn modelId="{268433B1-9B17-4961-ADC7-2DDA95534ACF}" type="presOf" srcId="{8776A411-904D-4C18-A8EA-2195ABD934E9}" destId="{ECF413B4-73C4-4C62-8694-FAF2E4DF6C59}" srcOrd="0" destOrd="0" presId="urn:microsoft.com/office/officeart/2005/8/layout/process5"/>
    <dgm:cxn modelId="{35618BB7-3FE7-4F72-BAD8-794AC0BD1A45}" type="presOf" srcId="{694BAE3E-B85C-4FA9-9720-63F21BDFAB58}" destId="{285116D7-46D9-49D2-AC22-4D2FDDADF750}" srcOrd="0" destOrd="0" presId="urn:microsoft.com/office/officeart/2005/8/layout/process5"/>
    <dgm:cxn modelId="{E82D82BD-5FCB-4E9F-B712-A28739D8840F}" srcId="{0B541670-1419-4006-B33A-06B3922AB905}" destId="{23AE556A-8D6D-4B1D-B651-BBB46AFB44B2}" srcOrd="4" destOrd="0" parTransId="{508E17B0-346A-4160-81E6-ACCF20E93FBF}" sibTransId="{0788A300-F33E-4F49-B847-B3D272E7F8D0}"/>
    <dgm:cxn modelId="{9A3663C7-AA3C-4101-8729-ED67A7BF8FB6}" type="presOf" srcId="{4FE2087E-82A1-442E-90E4-C59AE91A39EC}" destId="{3348ACBE-9A89-494D-A1A1-B1989B339359}" srcOrd="0" destOrd="0" presId="urn:microsoft.com/office/officeart/2005/8/layout/process5"/>
    <dgm:cxn modelId="{10A586D5-BDC9-4794-85F1-9565D811470A}" type="presOf" srcId="{7413F280-7277-4F18-8CA5-A5A781586751}" destId="{FF260675-2D05-481C-9AB8-9535703D5631}" srcOrd="1" destOrd="0" presId="urn:microsoft.com/office/officeart/2005/8/layout/process5"/>
    <dgm:cxn modelId="{DC541CDA-2CCB-44E3-8730-0711A9CE271B}" type="presOf" srcId="{2BBC0FDD-C504-44EE-89F0-B990A6B4AF9B}" destId="{4121FFF9-954A-4086-8F28-F34A0C446152}" srcOrd="1" destOrd="0" presId="urn:microsoft.com/office/officeart/2005/8/layout/process5"/>
    <dgm:cxn modelId="{5F370AED-36BD-4815-AFFB-27AA24F1D7E4}" type="presOf" srcId="{33BBCE6D-A889-405C-A4E6-C1EBD2829575}" destId="{873005D6-C0A3-43D4-B893-A4E29A38B194}" srcOrd="1" destOrd="0" presId="urn:microsoft.com/office/officeart/2005/8/layout/process5"/>
    <dgm:cxn modelId="{CF1CE2F3-E9A0-4555-877C-8B65458D629C}" type="presOf" srcId="{0B541670-1419-4006-B33A-06B3922AB905}" destId="{3C46F00C-45DD-4766-9CB6-21B5D80C06F8}" srcOrd="0" destOrd="0" presId="urn:microsoft.com/office/officeart/2005/8/layout/process5"/>
    <dgm:cxn modelId="{2933B65C-0099-4F33-A94A-F96C5AE90629}" type="presParOf" srcId="{3C46F00C-45DD-4766-9CB6-21B5D80C06F8}" destId="{BB3C2D42-2DFB-4955-B6AE-9FB08E96AB23}" srcOrd="0" destOrd="0" presId="urn:microsoft.com/office/officeart/2005/8/layout/process5"/>
    <dgm:cxn modelId="{C57510A7-80EE-451D-BD18-5760B4075682}" type="presParOf" srcId="{3C46F00C-45DD-4766-9CB6-21B5D80C06F8}" destId="{0ECA986C-CA02-4699-91B3-E300A0F5A341}" srcOrd="1" destOrd="0" presId="urn:microsoft.com/office/officeart/2005/8/layout/process5"/>
    <dgm:cxn modelId="{E5086A5E-344B-445E-9B02-29194FDFE1D5}" type="presParOf" srcId="{0ECA986C-CA02-4699-91B3-E300A0F5A341}" destId="{FF260675-2D05-481C-9AB8-9535703D5631}" srcOrd="0" destOrd="0" presId="urn:microsoft.com/office/officeart/2005/8/layout/process5"/>
    <dgm:cxn modelId="{8F133CEE-A45A-4EBF-82B8-27F7EB570D74}" type="presParOf" srcId="{3C46F00C-45DD-4766-9CB6-21B5D80C06F8}" destId="{1E419BFA-8DC6-4143-ADAE-E2259CAB127D}" srcOrd="2" destOrd="0" presId="urn:microsoft.com/office/officeart/2005/8/layout/process5"/>
    <dgm:cxn modelId="{85802328-5176-4129-B30B-CCA698BF1D45}" type="presParOf" srcId="{3C46F00C-45DD-4766-9CB6-21B5D80C06F8}" destId="{2BAB527B-9E69-4FD4-954F-49C1FD94FE33}" srcOrd="3" destOrd="0" presId="urn:microsoft.com/office/officeart/2005/8/layout/process5"/>
    <dgm:cxn modelId="{C991A782-3A41-49A3-9C67-F8A807334D40}" type="presParOf" srcId="{2BAB527B-9E69-4FD4-954F-49C1FD94FE33}" destId="{D7DE146B-8F82-4AEB-90C1-2B26F4331D1B}" srcOrd="0" destOrd="0" presId="urn:microsoft.com/office/officeart/2005/8/layout/process5"/>
    <dgm:cxn modelId="{F77B0AA3-6ACB-4588-A6AE-7D24EF7B56EF}" type="presParOf" srcId="{3C46F00C-45DD-4766-9CB6-21B5D80C06F8}" destId="{552E960F-4563-4534-903A-E4D1A55FE01E}" srcOrd="4" destOrd="0" presId="urn:microsoft.com/office/officeart/2005/8/layout/process5"/>
    <dgm:cxn modelId="{BD2EA589-1B3A-4826-A2DD-8C060936C7E4}" type="presParOf" srcId="{3C46F00C-45DD-4766-9CB6-21B5D80C06F8}" destId="{0BB5400F-AE6D-4A62-BDC6-DEE7E092FC67}" srcOrd="5" destOrd="0" presId="urn:microsoft.com/office/officeart/2005/8/layout/process5"/>
    <dgm:cxn modelId="{3AFB1A37-BD13-4BB1-83EC-9BAA9B918CA4}" type="presParOf" srcId="{0BB5400F-AE6D-4A62-BDC6-DEE7E092FC67}" destId="{873005D6-C0A3-43D4-B893-A4E29A38B194}" srcOrd="0" destOrd="0" presId="urn:microsoft.com/office/officeart/2005/8/layout/process5"/>
    <dgm:cxn modelId="{5C6B7398-249C-45AE-9227-C1BF05D7CEFB}" type="presParOf" srcId="{3C46F00C-45DD-4766-9CB6-21B5D80C06F8}" destId="{3348ACBE-9A89-494D-A1A1-B1989B339359}" srcOrd="6" destOrd="0" presId="urn:microsoft.com/office/officeart/2005/8/layout/process5"/>
    <dgm:cxn modelId="{8C6158E4-9FD8-4ABC-8511-7D6F9724FACB}" type="presParOf" srcId="{3C46F00C-45DD-4766-9CB6-21B5D80C06F8}" destId="{35EA45D1-2B1B-41C9-A093-7B6EF7094A28}" srcOrd="7" destOrd="0" presId="urn:microsoft.com/office/officeart/2005/8/layout/process5"/>
    <dgm:cxn modelId="{313A6677-6654-4A12-B17B-02152DE3ED4B}" type="presParOf" srcId="{35EA45D1-2B1B-41C9-A093-7B6EF7094A28}" destId="{0E339A19-3C1B-4D9A-B483-5CE218A0F876}" srcOrd="0" destOrd="0" presId="urn:microsoft.com/office/officeart/2005/8/layout/process5"/>
    <dgm:cxn modelId="{96F52A25-1D8F-47B0-956A-32C7605F4C1C}" type="presParOf" srcId="{3C46F00C-45DD-4766-9CB6-21B5D80C06F8}" destId="{764ABCFD-9D01-4F33-A58D-6FB513701027}" srcOrd="8" destOrd="0" presId="urn:microsoft.com/office/officeart/2005/8/layout/process5"/>
    <dgm:cxn modelId="{3E09CAEB-0A42-4BDE-9049-9B0054575F41}" type="presParOf" srcId="{3C46F00C-45DD-4766-9CB6-21B5D80C06F8}" destId="{D8100150-D9B2-4C1A-AE5C-9FDD40AC4E6B}" srcOrd="9" destOrd="0" presId="urn:microsoft.com/office/officeart/2005/8/layout/process5"/>
    <dgm:cxn modelId="{1DDB8A39-F3E6-423C-B623-146B6642684B}" type="presParOf" srcId="{D8100150-D9B2-4C1A-AE5C-9FDD40AC4E6B}" destId="{25D6F4E3-8960-42DE-824F-A648D9324BA4}" srcOrd="0" destOrd="0" presId="urn:microsoft.com/office/officeart/2005/8/layout/process5"/>
    <dgm:cxn modelId="{1DEB22C7-B4E2-40F9-865B-C9226934CA42}" type="presParOf" srcId="{3C46F00C-45DD-4766-9CB6-21B5D80C06F8}" destId="{EA41B07B-57B6-4A87-80B5-F9DCC8979E10}" srcOrd="10" destOrd="0" presId="urn:microsoft.com/office/officeart/2005/8/layout/process5"/>
    <dgm:cxn modelId="{92D13C06-1CD4-4196-9D1F-190B92DA87DB}" type="presParOf" srcId="{3C46F00C-45DD-4766-9CB6-21B5D80C06F8}" destId="{285116D7-46D9-49D2-AC22-4D2FDDADF750}" srcOrd="11" destOrd="0" presId="urn:microsoft.com/office/officeart/2005/8/layout/process5"/>
    <dgm:cxn modelId="{F78BCCF6-5146-4906-8C33-5A6521832DC2}" type="presParOf" srcId="{285116D7-46D9-49D2-AC22-4D2FDDADF750}" destId="{FC339D05-63CE-424D-94EB-95B2BF8D7320}" srcOrd="0" destOrd="0" presId="urn:microsoft.com/office/officeart/2005/8/layout/process5"/>
    <dgm:cxn modelId="{D7D35118-C086-4A69-A1BD-3D6C3B970969}" type="presParOf" srcId="{3C46F00C-45DD-4766-9CB6-21B5D80C06F8}" destId="{27F45DBF-02CC-4096-AC92-5C67DF2C9ECD}" srcOrd="12" destOrd="0" presId="urn:microsoft.com/office/officeart/2005/8/layout/process5"/>
    <dgm:cxn modelId="{D4C3FE48-2CF8-4C83-99E2-0C5EE85CA1A8}" type="presParOf" srcId="{3C46F00C-45DD-4766-9CB6-21B5D80C06F8}" destId="{158D5BF7-7F43-4D67-B038-9CD78D3E186D}" srcOrd="13" destOrd="0" presId="urn:microsoft.com/office/officeart/2005/8/layout/process5"/>
    <dgm:cxn modelId="{F44FD8F7-6B07-440F-B1B9-F9179EB057CA}" type="presParOf" srcId="{158D5BF7-7F43-4D67-B038-9CD78D3E186D}" destId="{4121FFF9-954A-4086-8F28-F34A0C446152}" srcOrd="0" destOrd="0" presId="urn:microsoft.com/office/officeart/2005/8/layout/process5"/>
    <dgm:cxn modelId="{27D5E2BB-C910-4D2F-A6D5-304AE0317357}" type="presParOf" srcId="{3C46F00C-45DD-4766-9CB6-21B5D80C06F8}" destId="{ECF413B4-73C4-4C62-8694-FAF2E4DF6C59}"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C2D42-2DFB-4955-B6AE-9FB08E96AB23}">
      <dsp:nvSpPr>
        <dsp:cNvPr id="0" name=""/>
        <dsp:cNvSpPr/>
      </dsp:nvSpPr>
      <dsp:spPr>
        <a:xfrm>
          <a:off x="5102" y="965152"/>
          <a:ext cx="2231112" cy="1338667"/>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Start</a:t>
          </a:r>
          <a:endParaRPr lang="en-IN" sz="1800" kern="1200" dirty="0"/>
        </a:p>
      </dsp:txBody>
      <dsp:txXfrm>
        <a:off x="44310" y="1004360"/>
        <a:ext cx="2152696" cy="1260251"/>
      </dsp:txXfrm>
    </dsp:sp>
    <dsp:sp modelId="{0ECA986C-CA02-4699-91B3-E300A0F5A341}">
      <dsp:nvSpPr>
        <dsp:cNvPr id="0" name=""/>
        <dsp:cNvSpPr/>
      </dsp:nvSpPr>
      <dsp:spPr>
        <a:xfrm>
          <a:off x="2432553" y="1357828"/>
          <a:ext cx="472995" cy="553315"/>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432553" y="1468491"/>
        <a:ext cx="331097" cy="331989"/>
      </dsp:txXfrm>
    </dsp:sp>
    <dsp:sp modelId="{1E419BFA-8DC6-4143-ADAE-E2259CAB127D}">
      <dsp:nvSpPr>
        <dsp:cNvPr id="0" name=""/>
        <dsp:cNvSpPr/>
      </dsp:nvSpPr>
      <dsp:spPr>
        <a:xfrm>
          <a:off x="3128660" y="965152"/>
          <a:ext cx="2231112" cy="1338667"/>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Create draw area on screen</a:t>
          </a:r>
          <a:endParaRPr lang="en-IN" sz="1800" kern="1200" dirty="0"/>
        </a:p>
      </dsp:txBody>
      <dsp:txXfrm>
        <a:off x="3167868" y="1004360"/>
        <a:ext cx="2152696" cy="1260251"/>
      </dsp:txXfrm>
    </dsp:sp>
    <dsp:sp modelId="{2BAB527B-9E69-4FD4-954F-49C1FD94FE33}">
      <dsp:nvSpPr>
        <dsp:cNvPr id="0" name=""/>
        <dsp:cNvSpPr/>
      </dsp:nvSpPr>
      <dsp:spPr>
        <a:xfrm>
          <a:off x="5556111" y="1357828"/>
          <a:ext cx="472995" cy="553315"/>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5556111" y="1468491"/>
        <a:ext cx="331097" cy="331989"/>
      </dsp:txXfrm>
    </dsp:sp>
    <dsp:sp modelId="{552E960F-4563-4534-903A-E4D1A55FE01E}">
      <dsp:nvSpPr>
        <dsp:cNvPr id="0" name=""/>
        <dsp:cNvSpPr/>
      </dsp:nvSpPr>
      <dsp:spPr>
        <a:xfrm>
          <a:off x="6252218" y="965152"/>
          <a:ext cx="2231112" cy="1338667"/>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Check for user input</a:t>
          </a:r>
          <a:endParaRPr lang="en-IN" sz="1800" kern="1200" dirty="0"/>
        </a:p>
      </dsp:txBody>
      <dsp:txXfrm>
        <a:off x="6291426" y="1004360"/>
        <a:ext cx="2152696" cy="1260251"/>
      </dsp:txXfrm>
    </dsp:sp>
    <dsp:sp modelId="{0BB5400F-AE6D-4A62-BDC6-DEE7E092FC67}">
      <dsp:nvSpPr>
        <dsp:cNvPr id="0" name=""/>
        <dsp:cNvSpPr/>
      </dsp:nvSpPr>
      <dsp:spPr>
        <a:xfrm>
          <a:off x="8679669" y="1357828"/>
          <a:ext cx="472995" cy="553315"/>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8679669" y="1468491"/>
        <a:ext cx="331097" cy="331989"/>
      </dsp:txXfrm>
    </dsp:sp>
    <dsp:sp modelId="{3348ACBE-9A89-494D-A1A1-B1989B339359}">
      <dsp:nvSpPr>
        <dsp:cNvPr id="0" name=""/>
        <dsp:cNvSpPr/>
      </dsp:nvSpPr>
      <dsp:spPr>
        <a:xfrm>
          <a:off x="9375776" y="965152"/>
          <a:ext cx="2231112" cy="1338667"/>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If “Y”, </a:t>
          </a:r>
          <a:r>
            <a:rPr lang="en-US" sz="1800" b="0" i="0" kern="1200" dirty="0" err="1"/>
            <a:t>gameover</a:t>
          </a:r>
          <a:r>
            <a:rPr lang="en-US" sz="1800" b="0" i="0" kern="1200" dirty="0"/>
            <a:t> else keep the food at old position​</a:t>
          </a:r>
          <a:endParaRPr lang="en-IN" sz="1800" kern="1200" dirty="0"/>
        </a:p>
      </dsp:txBody>
      <dsp:txXfrm>
        <a:off x="9414984" y="1004360"/>
        <a:ext cx="2152696" cy="1260251"/>
      </dsp:txXfrm>
    </dsp:sp>
    <dsp:sp modelId="{35EA45D1-2B1B-41C9-A093-7B6EF7094A28}">
      <dsp:nvSpPr>
        <dsp:cNvPr id="0" name=""/>
        <dsp:cNvSpPr/>
      </dsp:nvSpPr>
      <dsp:spPr>
        <a:xfrm rot="5400000">
          <a:off x="10254834" y="2459998"/>
          <a:ext cx="472995" cy="553315"/>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5400000">
        <a:off x="10325337" y="2500158"/>
        <a:ext cx="331989" cy="331097"/>
      </dsp:txXfrm>
    </dsp:sp>
    <dsp:sp modelId="{764ABCFD-9D01-4F33-A58D-6FB513701027}">
      <dsp:nvSpPr>
        <dsp:cNvPr id="0" name=""/>
        <dsp:cNvSpPr/>
      </dsp:nvSpPr>
      <dsp:spPr>
        <a:xfrm>
          <a:off x="9375776" y="3196265"/>
          <a:ext cx="2231112" cy="1338667"/>
        </a:xfrm>
        <a:prstGeom prst="roundRect">
          <a:avLst>
            <a:gd name="adj" fmla="val 1000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Increase snake length by 1 after a fruit is eaten​</a:t>
          </a:r>
          <a:endParaRPr lang="en-IN" sz="1800" kern="1200" dirty="0"/>
        </a:p>
      </dsp:txBody>
      <dsp:txXfrm>
        <a:off x="9414984" y="3235473"/>
        <a:ext cx="2152696" cy="1260251"/>
      </dsp:txXfrm>
    </dsp:sp>
    <dsp:sp modelId="{D8100150-D9B2-4C1A-AE5C-9FDD40AC4E6B}">
      <dsp:nvSpPr>
        <dsp:cNvPr id="0" name=""/>
        <dsp:cNvSpPr/>
      </dsp:nvSpPr>
      <dsp:spPr>
        <a:xfrm rot="10800000">
          <a:off x="8706442" y="3588941"/>
          <a:ext cx="472995" cy="553315"/>
        </a:xfrm>
        <a:prstGeom prst="rightArrow">
          <a:avLst>
            <a:gd name="adj1" fmla="val 60000"/>
            <a:gd name="adj2" fmla="val 5000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8848340" y="3699604"/>
        <a:ext cx="331097" cy="331989"/>
      </dsp:txXfrm>
    </dsp:sp>
    <dsp:sp modelId="{EA41B07B-57B6-4A87-80B5-F9DCC8979E10}">
      <dsp:nvSpPr>
        <dsp:cNvPr id="0" name=""/>
        <dsp:cNvSpPr/>
      </dsp:nvSpPr>
      <dsp:spPr>
        <a:xfrm>
          <a:off x="6252218" y="3196265"/>
          <a:ext cx="2231112" cy="1338667"/>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Check if head and wall position is same</a:t>
          </a:r>
          <a:endParaRPr lang="en-IN" sz="1800" kern="1200" dirty="0"/>
        </a:p>
      </dsp:txBody>
      <dsp:txXfrm>
        <a:off x="6291426" y="3235473"/>
        <a:ext cx="2152696" cy="1260251"/>
      </dsp:txXfrm>
    </dsp:sp>
    <dsp:sp modelId="{285116D7-46D9-49D2-AC22-4D2FDDADF750}">
      <dsp:nvSpPr>
        <dsp:cNvPr id="0" name=""/>
        <dsp:cNvSpPr/>
      </dsp:nvSpPr>
      <dsp:spPr>
        <a:xfrm rot="10800000">
          <a:off x="5582884" y="3588941"/>
          <a:ext cx="472995" cy="553315"/>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5724782" y="3699604"/>
        <a:ext cx="331097" cy="331989"/>
      </dsp:txXfrm>
    </dsp:sp>
    <dsp:sp modelId="{27F45DBF-02CC-4096-AC92-5C67DF2C9ECD}">
      <dsp:nvSpPr>
        <dsp:cNvPr id="0" name=""/>
        <dsp:cNvSpPr/>
      </dsp:nvSpPr>
      <dsp:spPr>
        <a:xfrm>
          <a:off x="3128660" y="3196265"/>
          <a:ext cx="2231112" cy="1338667"/>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Check if the head touched the tail​</a:t>
          </a:r>
          <a:endParaRPr lang="en-IN" sz="1800" kern="1200" dirty="0"/>
        </a:p>
      </dsp:txBody>
      <dsp:txXfrm>
        <a:off x="3167868" y="3235473"/>
        <a:ext cx="2152696" cy="1260251"/>
      </dsp:txXfrm>
    </dsp:sp>
    <dsp:sp modelId="{158D5BF7-7F43-4D67-B038-9CD78D3E186D}">
      <dsp:nvSpPr>
        <dsp:cNvPr id="0" name=""/>
        <dsp:cNvSpPr/>
      </dsp:nvSpPr>
      <dsp:spPr>
        <a:xfrm rot="10800000">
          <a:off x="2459326" y="3588941"/>
          <a:ext cx="472995" cy="553315"/>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2601224" y="3699604"/>
        <a:ext cx="331097" cy="331989"/>
      </dsp:txXfrm>
    </dsp:sp>
    <dsp:sp modelId="{ECF413B4-73C4-4C62-8694-FAF2E4DF6C59}">
      <dsp:nvSpPr>
        <dsp:cNvPr id="0" name=""/>
        <dsp:cNvSpPr/>
      </dsp:nvSpPr>
      <dsp:spPr>
        <a:xfrm>
          <a:off x="5102" y="3196265"/>
          <a:ext cx="2231112" cy="1338667"/>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If Yes, display game over and start again​</a:t>
          </a:r>
          <a:endParaRPr lang="en-IN" sz="1800" kern="1200" dirty="0"/>
        </a:p>
      </dsp:txBody>
      <dsp:txXfrm>
        <a:off x="44310" y="3235473"/>
        <a:ext cx="2152696" cy="126025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DD64C-C4D0-4ACC-AA9C-E70F00983D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30D812-820A-498D-9EBF-BD26DC86E2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BFA443-6037-45AD-8FCD-E326F13D1BB2}"/>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17AE8094-258B-4F8F-AE75-5DD2DDFB6F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5D6EAB-9896-41D3-BA2B-76902CE56F1F}"/>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1846769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C8BC-0ED8-4B89-B355-2166E38F4A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D74300-0AA6-41AD-936E-EAB5A61BD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463FF5-E683-4D84-83D3-229D0C99F8E9}"/>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44E69F81-210C-4725-8446-80B42364C9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F7D51E-68C2-4C66-BB10-35DD23F0ADC8}"/>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1065499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D5F4E-26F9-42B8-9A39-AC4CA14ED1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B4EACC-5483-46FD-8C44-914F695BCF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45DDA3-D44D-47F9-88CA-D966C667FDC9}"/>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E7903F9A-F4EB-4EEC-B991-F50A93CFAB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1D84D-281F-4AC2-8A24-6046CC1A6CE4}"/>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231418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BDED-47DE-4ECE-B5E1-0ADAF3F554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3A5095-9BEE-4D34-8B75-38799900A0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448C73-7C9B-4FC8-83D1-B6A0B45456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3CC4C6-144F-4AF3-9964-0F50A5966D2E}"/>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6" name="Footer Placeholder 5">
            <a:extLst>
              <a:ext uri="{FF2B5EF4-FFF2-40B4-BE49-F238E27FC236}">
                <a16:creationId xmlns:a16="http://schemas.microsoft.com/office/drawing/2014/main" id="{017384A1-B71B-4EBF-9800-7D98FBB3E5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5C8FFD-08B5-423B-ABA4-36CFDBD2ABCD}"/>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3003741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DC213-5E69-4DF4-9A07-FB8CADC781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3837E9-75AF-4615-98AB-E22D337D5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D4035-AF62-4E9F-847E-9FC668089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DFAEE0-896D-4E40-8921-F1D1115FB7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29BA8B-6D6E-481B-B3FE-5D4D16178E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B1F86A-527C-4826-AF8E-6BF8637B763B}"/>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8" name="Footer Placeholder 7">
            <a:extLst>
              <a:ext uri="{FF2B5EF4-FFF2-40B4-BE49-F238E27FC236}">
                <a16:creationId xmlns:a16="http://schemas.microsoft.com/office/drawing/2014/main" id="{03E6479D-A7C0-4C22-BCA1-D75EA199B7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402205-E617-4830-9FEB-6E52D419EEE5}"/>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1147417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A42D-2EA1-4897-8BEE-0344E2205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BD08E-02EA-4B2F-A97A-9C64A6F1327B}"/>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4" name="Footer Placeholder 3">
            <a:extLst>
              <a:ext uri="{FF2B5EF4-FFF2-40B4-BE49-F238E27FC236}">
                <a16:creationId xmlns:a16="http://schemas.microsoft.com/office/drawing/2014/main" id="{9BF314B0-DF51-4C29-8268-D4EF770C26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7E620-9897-49D8-87E1-285C864BECB5}"/>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1181175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77A89-F2CC-42AA-B562-8DC32F9E077A}"/>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3" name="Footer Placeholder 2">
            <a:extLst>
              <a:ext uri="{FF2B5EF4-FFF2-40B4-BE49-F238E27FC236}">
                <a16:creationId xmlns:a16="http://schemas.microsoft.com/office/drawing/2014/main" id="{CB901D2B-0AF9-4506-889E-A5031B3883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F56B79F-8BCC-419C-A5AD-EE8C6E283DF9}"/>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3545438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E0D8-36DC-43A7-9B53-EFB8D6A002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DD07D5-3F41-418B-9DE3-9ADDA45C22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518678-23B2-4EC7-95E8-933F31EEBE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874D4F-111B-42F2-91F6-B9B22F808BB3}"/>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6" name="Footer Placeholder 5">
            <a:extLst>
              <a:ext uri="{FF2B5EF4-FFF2-40B4-BE49-F238E27FC236}">
                <a16:creationId xmlns:a16="http://schemas.microsoft.com/office/drawing/2014/main" id="{370787FD-B972-4B69-8DC6-A422EDA3BD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C09B39-AD3F-4B9C-B7A6-3CE473CC7412}"/>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2885552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24BD-FEA5-4752-A384-F96CA0A514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1D05A8-3595-476E-A1D9-77BF7B640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961B7D-81CF-4357-8397-3887AD8A5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889FC-3E85-4951-8D6D-929B6F31C5DC}"/>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6" name="Footer Placeholder 5">
            <a:extLst>
              <a:ext uri="{FF2B5EF4-FFF2-40B4-BE49-F238E27FC236}">
                <a16:creationId xmlns:a16="http://schemas.microsoft.com/office/drawing/2014/main" id="{A143D037-CBEF-442E-BA49-030B6390B9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7F3856-4C50-44A0-9B9B-0AFD6B8C19B8}"/>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1778657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B087-E608-404F-8538-F507745DFD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36B754-C403-416D-80FB-1A99852DC9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869FC-C9D3-4632-9FE4-5A3BBBF6737F}"/>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3D11F192-CC60-4723-B130-361AD906D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64DD04-A36E-4C2C-B28A-0409F49042DE}"/>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234126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1B0296-126D-4A3C-A287-4BDBCD34FD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D873B0-3695-458B-B5DD-93F69BDCD4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948C00-5417-4F0E-B9D9-D19FB377CCC6}"/>
              </a:ext>
            </a:extLst>
          </p:cNvPr>
          <p:cNvSpPr>
            <a:spLocks noGrp="1"/>
          </p:cNvSpPr>
          <p:nvPr>
            <p:ph type="dt" sz="half" idx="10"/>
          </p:nvPr>
        </p:nvSpPr>
        <p:spPr/>
        <p:txBody>
          <a:body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63124E39-6D7E-4FFC-8265-58F3ECAEA1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9F465-B52D-4D0F-8939-CDB2FAD91FE0}"/>
              </a:ext>
            </a:extLst>
          </p:cNvPr>
          <p:cNvSpPr>
            <a:spLocks noGrp="1"/>
          </p:cNvSpPr>
          <p:nvPr>
            <p:ph type="sldNum" sz="quarter" idx="12"/>
          </p:nvPr>
        </p:nvSpPr>
        <p:spPr/>
        <p:txBody>
          <a:bodyPr/>
          <a:lstStyle/>
          <a:p>
            <a:fld id="{B9F5FC87-B628-4D2B-9B7B-DB78F34185D1}" type="slidenum">
              <a:rPr lang="en-IN" smtClean="0"/>
              <a:t>‹#›</a:t>
            </a:fld>
            <a:endParaRPr lang="en-IN"/>
          </a:p>
        </p:txBody>
      </p:sp>
    </p:spTree>
    <p:extLst>
      <p:ext uri="{BB962C8B-B14F-4D97-AF65-F5344CB8AC3E}">
        <p14:creationId xmlns:p14="http://schemas.microsoft.com/office/powerpoint/2010/main" val="56900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8738EA-20ED-4AB7-8DD5-668EF49E60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0CAECF-1F36-434F-B380-7F03C4DB92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F138E2-A982-48AC-9B49-81EA16B20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4D844-D233-4E3C-9126-383459172968}" type="datetimeFigureOut">
              <a:rPr lang="en-IN" smtClean="0"/>
              <a:t>04-08-2021</a:t>
            </a:fld>
            <a:endParaRPr lang="en-IN"/>
          </a:p>
        </p:txBody>
      </p:sp>
      <p:sp>
        <p:nvSpPr>
          <p:cNvPr id="5" name="Footer Placeholder 4">
            <a:extLst>
              <a:ext uri="{FF2B5EF4-FFF2-40B4-BE49-F238E27FC236}">
                <a16:creationId xmlns:a16="http://schemas.microsoft.com/office/drawing/2014/main" id="{63753FC2-C764-4913-892E-321117DE1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55E0FD-A9ED-4661-A5CE-A9673CD4E7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5FC87-B628-4D2B-9B7B-DB78F34185D1}" type="slidenum">
              <a:rPr lang="en-IN" smtClean="0"/>
              <a:t>‹#›</a:t>
            </a:fld>
            <a:endParaRPr lang="en-IN"/>
          </a:p>
        </p:txBody>
      </p:sp>
    </p:spTree>
    <p:extLst>
      <p:ext uri="{BB962C8B-B14F-4D97-AF65-F5344CB8AC3E}">
        <p14:creationId xmlns:p14="http://schemas.microsoft.com/office/powerpoint/2010/main" val="718286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wallpaperflare.com/keyboard-rgb-gaming-writing-wasd-asdf-qwety-qwertz-corsair-wallpaper-ejjkk" TargetMode="External"/><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www.rawpixel.com/image/1015326/computer-coding-background?referral=1344&amp;source=pinterest"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ojdo.de/wp/2011/12/black-desktop-wallpapers/"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hyperlink" Target="https://opensource.com/article/18/12/linux-toy-snake"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ohiostate.pressbooks.pub/graphicshistory/chapter/6-8-omnibus-computer-graphics/"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oer.suny.edu/courses/pc-hardware-oli/" TargetMode="External"/><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digitalartwork.org/galleries/computer-graphics/" TargetMode="External"/><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www.flickr.com/photos/thisisengineering/50314771353/" TargetMode="External"/><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www.rawpixel.com/image/1015297/computer-coding-background" TargetMode="External"/><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opensource.com/article/18/10/write-favorite-r-functions-python" TargetMode="External"/><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www.maxpixel.net/Hand-In-Hand-Connect-Teamwork-Fit-Together-Together-3237646" TargetMode="External"/><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 TargetMode="External"/><Relationship Id="rId2" Type="http://schemas.openxmlformats.org/officeDocument/2006/relationships/image" Target="../media/image16.jpeg"/><Relationship Id="rId1" Type="http://schemas.openxmlformats.org/officeDocument/2006/relationships/slideLayout" Target="../slideLayouts/slideLayout9.xml"/><Relationship Id="rId5" Type="http://schemas.openxmlformats.org/officeDocument/2006/relationships/image" Target="../media/image17.jpeg"/><Relationship Id="rId4" Type="http://schemas.openxmlformats.org/officeDocument/2006/relationships/hyperlink" Target="https://www.youtube.com/watch?v=ON5ODiA-AQE&amp;pp=sAQA"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conormeagher.com/2016/06/ethernet-priority-over-wifi/" TargetMode="External"/><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C96A7-A138-44CA-A12E-1998CA92E53C}"/>
              </a:ext>
            </a:extLst>
          </p:cNvPr>
          <p:cNvSpPr>
            <a:spLocks noGrp="1"/>
          </p:cNvSpPr>
          <p:nvPr>
            <p:ph type="ctrTitle"/>
          </p:nvPr>
        </p:nvSpPr>
        <p:spPr>
          <a:xfrm>
            <a:off x="142876" y="1122363"/>
            <a:ext cx="5410199" cy="1176954"/>
          </a:xfrm>
          <a:noFill/>
        </p:spPr>
        <p:txBody>
          <a:bodyPr/>
          <a:lstStyle/>
          <a:p>
            <a:r>
              <a:rPr lang="en-US" u="sng" dirty="0">
                <a:latin typeface="Forte" panose="03060902040502070203" pitchFamily="66" charset="0"/>
              </a:rPr>
              <a:t>SNAKE</a:t>
            </a:r>
            <a:r>
              <a:rPr lang="en-US" dirty="0">
                <a:latin typeface="Forte" panose="03060902040502070203" pitchFamily="66" charset="0"/>
              </a:rPr>
              <a:t> </a:t>
            </a:r>
            <a:r>
              <a:rPr lang="en-US" u="sng" dirty="0">
                <a:latin typeface="Forte" panose="03060902040502070203" pitchFamily="66" charset="0"/>
              </a:rPr>
              <a:t>GAME</a:t>
            </a:r>
            <a:endParaRPr lang="en-IN" u="sng" dirty="0">
              <a:latin typeface="Forte" panose="03060902040502070203" pitchFamily="66" charset="0"/>
            </a:endParaRPr>
          </a:p>
        </p:txBody>
      </p:sp>
      <p:sp>
        <p:nvSpPr>
          <p:cNvPr id="3" name="Subtitle 2">
            <a:extLst>
              <a:ext uri="{FF2B5EF4-FFF2-40B4-BE49-F238E27FC236}">
                <a16:creationId xmlns:a16="http://schemas.microsoft.com/office/drawing/2014/main" id="{9D558A87-5220-4EE8-8DDB-E69FAD14012C}"/>
              </a:ext>
            </a:extLst>
          </p:cNvPr>
          <p:cNvSpPr>
            <a:spLocks noGrp="1"/>
          </p:cNvSpPr>
          <p:nvPr>
            <p:ph type="subTitle" idx="1"/>
          </p:nvPr>
        </p:nvSpPr>
        <p:spPr>
          <a:xfrm>
            <a:off x="506028" y="3897297"/>
            <a:ext cx="2627789" cy="2583401"/>
          </a:xfrm>
        </p:spPr>
        <p:txBody>
          <a:bodyPr>
            <a:normAutofit fontScale="25000" lnSpcReduction="20000"/>
          </a:bodyPr>
          <a:lstStyle/>
          <a:p>
            <a:r>
              <a:rPr lang="en-IN" sz="7200" dirty="0"/>
              <a:t>Members :-​</a:t>
            </a:r>
          </a:p>
          <a:p>
            <a:endParaRPr lang="en-IN" sz="7200" dirty="0"/>
          </a:p>
          <a:p>
            <a:r>
              <a:rPr lang="en-IN" sz="7200" dirty="0"/>
              <a:t>138 - Tridha Das​</a:t>
            </a:r>
          </a:p>
          <a:p>
            <a:r>
              <a:rPr lang="en-IN" sz="7200" dirty="0"/>
              <a:t>139 - </a:t>
            </a:r>
            <a:r>
              <a:rPr lang="en-IN" sz="7200" dirty="0" err="1"/>
              <a:t>Subham</a:t>
            </a:r>
            <a:r>
              <a:rPr lang="en-IN" sz="7200" dirty="0"/>
              <a:t> Bose​</a:t>
            </a:r>
          </a:p>
          <a:p>
            <a:r>
              <a:rPr lang="en-IN" sz="7200" dirty="0"/>
              <a:t>140 - </a:t>
            </a:r>
            <a:r>
              <a:rPr lang="en-IN" sz="7200" dirty="0" err="1"/>
              <a:t>Trishita</a:t>
            </a:r>
            <a:r>
              <a:rPr lang="en-IN" sz="7200" dirty="0"/>
              <a:t> Mukherjee​</a:t>
            </a:r>
          </a:p>
          <a:p>
            <a:r>
              <a:rPr lang="en-IN" sz="7200" dirty="0"/>
              <a:t>141 - </a:t>
            </a:r>
            <a:r>
              <a:rPr lang="en-IN" sz="7200" dirty="0" err="1"/>
              <a:t>Soumyadeep</a:t>
            </a:r>
            <a:r>
              <a:rPr lang="en-IN" sz="7200" dirty="0"/>
              <a:t> Dey​</a:t>
            </a:r>
          </a:p>
          <a:p>
            <a:r>
              <a:rPr lang="en-IN" sz="7200" dirty="0"/>
              <a:t>142 - </a:t>
            </a:r>
            <a:r>
              <a:rPr lang="en-IN" sz="7200" dirty="0" err="1"/>
              <a:t>Somsubhra</a:t>
            </a:r>
            <a:r>
              <a:rPr lang="en-IN" sz="7200" dirty="0"/>
              <a:t> Kar ​</a:t>
            </a:r>
          </a:p>
          <a:p>
            <a:r>
              <a:rPr lang="en-IN" sz="7200" dirty="0"/>
              <a:t>143 - </a:t>
            </a:r>
            <a:r>
              <a:rPr lang="en-IN" sz="7200" dirty="0" err="1"/>
              <a:t>Sayan</a:t>
            </a:r>
            <a:r>
              <a:rPr lang="en-IN" sz="7200" dirty="0"/>
              <a:t> Kumar Ghosh</a:t>
            </a:r>
            <a:r>
              <a:rPr lang="en-IN" dirty="0"/>
              <a:t>​</a:t>
            </a:r>
          </a:p>
        </p:txBody>
      </p:sp>
      <p:pic>
        <p:nvPicPr>
          <p:cNvPr id="4" name="Picture 3">
            <a:extLst>
              <a:ext uri="{FF2B5EF4-FFF2-40B4-BE49-F238E27FC236}">
                <a16:creationId xmlns:a16="http://schemas.microsoft.com/office/drawing/2014/main" id="{4C4D0497-3D83-424A-9083-83C02C1A8F28}"/>
              </a:ext>
            </a:extLst>
          </p:cNvPr>
          <p:cNvPicPr/>
          <p:nvPr/>
        </p:nvPicPr>
        <p:blipFill>
          <a:blip r:embed="rId2"/>
          <a:stretch>
            <a:fillRect/>
          </a:stretch>
        </p:blipFill>
        <p:spPr bwMode="auto">
          <a:xfrm>
            <a:off x="6096000" y="0"/>
            <a:ext cx="6095999" cy="6858000"/>
          </a:xfrm>
          <a:prstGeom prst="rect">
            <a:avLst/>
          </a:prstGeom>
        </p:spPr>
      </p:pic>
    </p:spTree>
    <p:extLst>
      <p:ext uri="{BB962C8B-B14F-4D97-AF65-F5344CB8AC3E}">
        <p14:creationId xmlns:p14="http://schemas.microsoft.com/office/powerpoint/2010/main" val="1085915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extLst>
              <a:ext uri="{837473B0-CC2E-450A-ABE3-18F120FF3D39}">
                <a1611:picAttrSrcUrl xmlns:a1611="http://schemas.microsoft.com/office/drawing/2016/11/main" r:id="rId3"/>
              </a:ext>
            </a:extLst>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B19D4-9FAD-4302-80DA-709D2ADD8F1A}"/>
              </a:ext>
            </a:extLst>
          </p:cNvPr>
          <p:cNvSpPr>
            <a:spLocks noGrp="1"/>
          </p:cNvSpPr>
          <p:nvPr>
            <p:ph type="title"/>
          </p:nvPr>
        </p:nvSpPr>
        <p:spPr>
          <a:xfrm>
            <a:off x="409576" y="2352675"/>
            <a:ext cx="4359274" cy="1076325"/>
          </a:xfrm>
        </p:spPr>
        <p:txBody>
          <a:bodyPr>
            <a:normAutofit/>
          </a:bodyPr>
          <a:lstStyle/>
          <a:p>
            <a:r>
              <a:rPr lang="en-US" i="1" u="sng" dirty="0">
                <a:solidFill>
                  <a:schemeClr val="bg1"/>
                </a:solidFill>
                <a:latin typeface="Berlin Sans FB Demi" panose="020E0802020502020306" pitchFamily="34" charset="0"/>
              </a:rPr>
              <a:t>ACKNOWLEDGEMENT</a:t>
            </a:r>
            <a:endParaRPr lang="en-IN" i="1" u="sng"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3B59DF92-CB14-4C25-82B9-B680B309FE61}"/>
              </a:ext>
            </a:extLst>
          </p:cNvPr>
          <p:cNvSpPr>
            <a:spLocks noGrp="1"/>
          </p:cNvSpPr>
          <p:nvPr>
            <p:ph idx="1"/>
          </p:nvPr>
        </p:nvSpPr>
        <p:spPr>
          <a:xfrm>
            <a:off x="5754688" y="1003300"/>
            <a:ext cx="6172200" cy="4851400"/>
          </a:xfrm>
        </p:spPr>
        <p:txBody>
          <a:bodyPr>
            <a:normAutofit fontScale="70000" lnSpcReduction="20000"/>
          </a:bodyPr>
          <a:lstStyle/>
          <a:p>
            <a:pPr marL="0" indent="0" algn="l" rtl="0" fontAlgn="base">
              <a:buNone/>
            </a:pPr>
            <a:endParaRPr lang="en-US" sz="2600" b="0" i="0" u="none" strike="noStrike" dirty="0">
              <a:effectLst/>
              <a:latin typeface="Microsoft JhengHei" panose="020B0604030504040204" pitchFamily="34" charset="-120"/>
            </a:endParaRP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Presentation, inspiration and motivation have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always played a key role in the success of any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venture</a:t>
            </a:r>
            <a:r>
              <a:rPr lang="en-US" sz="2600" b="1" i="0" dirty="0">
                <a:solidFill>
                  <a:schemeClr val="bg1"/>
                </a:solidFill>
                <a:effectLst/>
                <a:latin typeface="Times New Roman" panose="02020603050405020304" pitchFamily="18" charset="0"/>
                <a:cs typeface="Times New Roman" panose="02020603050405020304" pitchFamily="18" charset="0"/>
              </a:rPr>
              <a:t>​. </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We express our sincere thanks to </a:t>
            </a:r>
          </a:p>
          <a:p>
            <a:pPr marL="0" indent="0" algn="l" rtl="0" fontAlgn="base">
              <a:buNone/>
            </a:pPr>
            <a:r>
              <a:rPr lang="en-US" sz="2600" b="1" dirty="0">
                <a:solidFill>
                  <a:schemeClr val="bg1"/>
                </a:solidFill>
                <a:latin typeface="Times New Roman" panose="02020603050405020304" pitchFamily="18" charset="0"/>
                <a:cs typeface="Times New Roman" panose="02020603050405020304" pitchFamily="18" charset="0"/>
              </a:rPr>
              <a:t>Prof</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 (Dr.) </a:t>
            </a:r>
            <a:r>
              <a:rPr lang="en-US" sz="2600" b="1" i="0" u="none" strike="noStrike" dirty="0" err="1">
                <a:solidFill>
                  <a:schemeClr val="bg1"/>
                </a:solidFill>
                <a:effectLst/>
                <a:latin typeface="Times New Roman" panose="02020603050405020304" pitchFamily="18" charset="0"/>
                <a:cs typeface="Times New Roman" panose="02020603050405020304" pitchFamily="18" charset="0"/>
              </a:rPr>
              <a:t>Santanu</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 Kr Sen, Principal, GNIT.</a:t>
            </a:r>
            <a:r>
              <a:rPr lang="en-US" sz="2600" b="1" i="0" dirty="0">
                <a:solidFill>
                  <a:schemeClr val="bg1"/>
                </a:solidFill>
                <a:effectLst/>
                <a:latin typeface="Times New Roman" panose="02020603050405020304" pitchFamily="18" charset="0"/>
                <a:cs typeface="Times New Roman" panose="02020603050405020304" pitchFamily="18" charset="0"/>
              </a:rPr>
              <a:t>​ </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We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pay our deep sense of gratitude to Dr. </a:t>
            </a:r>
            <a:r>
              <a:rPr lang="en-US" sz="2600" b="1" i="0" u="none" strike="noStrike" dirty="0" err="1">
                <a:solidFill>
                  <a:schemeClr val="bg1"/>
                </a:solidFill>
                <a:effectLst/>
                <a:latin typeface="Times New Roman" panose="02020603050405020304" pitchFamily="18" charset="0"/>
                <a:cs typeface="Times New Roman" panose="02020603050405020304" pitchFamily="18" charset="0"/>
              </a:rPr>
              <a:t>Rupak</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Chakraborty  and our guide whose valuable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guidance and kind supervision given to us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throughout the course which shaped the present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work as it shows, and to encourage us to the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highest peak and to provide us the opportunity to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prepare the project.</a:t>
            </a:r>
            <a:r>
              <a:rPr lang="en-US" sz="2600" b="1" i="0" dirty="0">
                <a:solidFill>
                  <a:schemeClr val="bg1"/>
                </a:solidFill>
                <a:effectLst/>
                <a:latin typeface="Times New Roman" panose="02020603050405020304" pitchFamily="18" charset="0"/>
                <a:cs typeface="Times New Roman" panose="02020603050405020304" pitchFamily="18" charset="0"/>
              </a:rPr>
              <a:t>​</a:t>
            </a:r>
            <a:r>
              <a:rPr lang="en-US" sz="2600" b="1" dirty="0">
                <a:solidFill>
                  <a:schemeClr val="bg1"/>
                </a:solidFill>
                <a:latin typeface="Times New Roman" panose="02020603050405020304" pitchFamily="18" charset="0"/>
                <a:cs typeface="Times New Roman" panose="02020603050405020304" pitchFamily="18" charset="0"/>
              </a:rPr>
              <a:t> </a:t>
            </a:r>
            <a:r>
              <a:rPr lang="en-US" sz="2600" b="1" i="0" u="none" strike="noStrike" dirty="0">
                <a:solidFill>
                  <a:schemeClr val="bg1"/>
                </a:solidFill>
                <a:effectLst/>
                <a:latin typeface="Times New Roman" panose="02020603050405020304" pitchFamily="18" charset="0"/>
                <a:cs typeface="Times New Roman" panose="02020603050405020304" pitchFamily="18" charset="0"/>
              </a:rPr>
              <a:t>Last but not the least, our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parents are also an important inspiration for us. </a:t>
            </a:r>
          </a:p>
          <a:p>
            <a:pPr marL="0" indent="0" algn="l" rtl="0" fontAlgn="base">
              <a:buNone/>
            </a:pPr>
            <a:r>
              <a:rPr lang="en-US" sz="2600" b="1" i="0" u="none" strike="noStrike" dirty="0">
                <a:solidFill>
                  <a:schemeClr val="bg1"/>
                </a:solidFill>
                <a:effectLst/>
                <a:latin typeface="Times New Roman" panose="02020603050405020304" pitchFamily="18" charset="0"/>
                <a:cs typeface="Times New Roman" panose="02020603050405020304" pitchFamily="18" charset="0"/>
              </a:rPr>
              <a:t>So, with due regards, we express our gratitude to them</a:t>
            </a:r>
            <a:r>
              <a:rPr lang="en-US" sz="2600" b="1" i="0" dirty="0">
                <a:solidFill>
                  <a:schemeClr val="bg1"/>
                </a:solidFill>
                <a:effectLst/>
                <a:latin typeface="Times New Roman" panose="02020603050405020304" pitchFamily="18" charset="0"/>
                <a:cs typeface="Times New Roman" panose="02020603050405020304" pitchFamily="18" charset="0"/>
              </a:rPr>
              <a:t>​.</a:t>
            </a:r>
          </a:p>
          <a:p>
            <a:pPr marL="0" indent="0" algn="l" rtl="0" fontAlgn="base">
              <a:buNone/>
            </a:pPr>
            <a:r>
              <a:rPr lang="en-US" b="1" i="0" dirty="0">
                <a:solidFill>
                  <a:schemeClr val="bg1"/>
                </a:solidFill>
                <a:effectLst/>
                <a:latin typeface="Arial" panose="020B0604020202020204" pitchFamily="34" charset="0"/>
              </a:rPr>
              <a:t>​</a:t>
            </a:r>
          </a:p>
          <a:p>
            <a:endParaRPr lang="en-IN" dirty="0"/>
          </a:p>
        </p:txBody>
      </p:sp>
      <p:cxnSp>
        <p:nvCxnSpPr>
          <p:cNvPr id="6" name="Straight Connector 5">
            <a:extLst>
              <a:ext uri="{FF2B5EF4-FFF2-40B4-BE49-F238E27FC236}">
                <a16:creationId xmlns:a16="http://schemas.microsoft.com/office/drawing/2014/main" id="{A64300D9-3C7F-4AD2-8DBC-D7212692255F}"/>
              </a:ext>
            </a:extLst>
          </p:cNvPr>
          <p:cNvCxnSpPr/>
          <p:nvPr/>
        </p:nvCxnSpPr>
        <p:spPr>
          <a:xfrm>
            <a:off x="5143500" y="2352675"/>
            <a:ext cx="0" cy="18764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668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2000"/>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A4AA2-7D73-42D4-B2F1-1539D6E646DA}"/>
              </a:ext>
            </a:extLst>
          </p:cNvPr>
          <p:cNvSpPr>
            <a:spLocks noGrp="1"/>
          </p:cNvSpPr>
          <p:nvPr>
            <p:ph sz="half" idx="1"/>
          </p:nvPr>
        </p:nvSpPr>
        <p:spPr/>
        <p:txBody>
          <a:bodyPr>
            <a:normAutofit/>
          </a:bodyPr>
          <a:lstStyle/>
          <a:p>
            <a:pPr marL="0" indent="0">
              <a:buNone/>
            </a:pPr>
            <a:endParaRPr lang="en-US" sz="4000" dirty="0">
              <a:latin typeface="Berlin Sans FB Demi" panose="020E0802020502020306" pitchFamily="34" charset="0"/>
            </a:endParaRPr>
          </a:p>
          <a:p>
            <a:pPr marL="0" indent="0">
              <a:buNone/>
            </a:pPr>
            <a:endParaRPr lang="en-US" sz="4000" dirty="0">
              <a:latin typeface="Berlin Sans FB Demi" panose="020E0802020502020306" pitchFamily="34" charset="0"/>
            </a:endParaRPr>
          </a:p>
          <a:p>
            <a:pPr marL="0" indent="0">
              <a:buNone/>
            </a:pPr>
            <a:r>
              <a:rPr lang="en-US" sz="4000" dirty="0">
                <a:latin typeface="Berlin Sans FB Demi" panose="020E0802020502020306" pitchFamily="34" charset="0"/>
              </a:rPr>
              <a:t>      </a:t>
            </a:r>
            <a:r>
              <a:rPr lang="en-US" sz="4000" i="1" u="sng" dirty="0">
                <a:solidFill>
                  <a:schemeClr val="bg1"/>
                </a:solidFill>
                <a:latin typeface="Berlin Sans FB Demi" panose="020E0802020502020306" pitchFamily="34" charset="0"/>
              </a:rPr>
              <a:t>CONTENTS</a:t>
            </a:r>
            <a:endParaRPr lang="en-IN" sz="4000" i="1" u="sng" dirty="0">
              <a:solidFill>
                <a:schemeClr val="bg1"/>
              </a:solidFill>
              <a:latin typeface="Berlin Sans FB Demi" panose="020E0802020502020306" pitchFamily="34" charset="0"/>
            </a:endParaRPr>
          </a:p>
        </p:txBody>
      </p:sp>
      <p:sp>
        <p:nvSpPr>
          <p:cNvPr id="4" name="Content Placeholder 3">
            <a:extLst>
              <a:ext uri="{FF2B5EF4-FFF2-40B4-BE49-F238E27FC236}">
                <a16:creationId xmlns:a16="http://schemas.microsoft.com/office/drawing/2014/main" id="{DD860AFE-314B-4490-AC33-24534F491D82}"/>
              </a:ext>
            </a:extLst>
          </p:cNvPr>
          <p:cNvSpPr>
            <a:spLocks noGrp="1"/>
          </p:cNvSpPr>
          <p:nvPr>
            <p:ph sz="half" idx="2"/>
          </p:nvPr>
        </p:nvSpPr>
        <p:spPr>
          <a:xfrm>
            <a:off x="6172200" y="1495425"/>
            <a:ext cx="5181600" cy="4681538"/>
          </a:xfrm>
        </p:spPr>
        <p:txBody>
          <a:bodyPr/>
          <a:lstStyle/>
          <a:p>
            <a:pPr marL="0" indent="0" algn="l" rtl="0" fontAlgn="base">
              <a:buNone/>
            </a:pPr>
            <a:endParaRPr lang="en-US" sz="2400" b="0" i="0" u="none" strike="noStrike" dirty="0">
              <a:solidFill>
                <a:schemeClr val="bg1"/>
              </a:solidFill>
              <a:effectLst/>
              <a:latin typeface="Times New Roman" panose="02020603050405020304" pitchFamily="18" charset="0"/>
              <a:cs typeface="Times New Roman" panose="02020603050405020304" pitchFamily="18" charset="0"/>
            </a:endParaRPr>
          </a:p>
          <a:p>
            <a:pPr algn="l" rtl="0" fontAlgn="base">
              <a:buFont typeface="Arial" panose="020B0604020202020204" pitchFamily="34" charset="0"/>
              <a:buChar char="•"/>
            </a:pPr>
            <a:r>
              <a:rPr lang="en-US" sz="2400" b="0" i="0" u="none" strike="noStrike" dirty="0">
                <a:solidFill>
                  <a:schemeClr val="bg1"/>
                </a:solidFill>
                <a:effectLst/>
                <a:latin typeface="Times New Roman" panose="02020603050405020304" pitchFamily="18" charset="0"/>
                <a:cs typeface="Times New Roman" panose="02020603050405020304" pitchFamily="18" charset="0"/>
              </a:rPr>
              <a:t>Objectives</a:t>
            </a:r>
            <a:r>
              <a:rPr lang="en-US" sz="2400" b="0" i="0" dirty="0">
                <a:solidFill>
                  <a:schemeClr val="bg1"/>
                </a:solidFill>
                <a:effectLst/>
                <a:latin typeface="Times New Roman" panose="02020603050405020304" pitchFamily="18" charset="0"/>
                <a:cs typeface="Times New Roman" panose="02020603050405020304" pitchFamily="18" charset="0"/>
              </a:rPr>
              <a:t>​</a:t>
            </a:r>
          </a:p>
          <a:p>
            <a:pPr algn="l" rtl="0" fontAlgn="base">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Introduction</a:t>
            </a:r>
            <a:endParaRPr lang="en-US" sz="2400" b="0" i="0" dirty="0">
              <a:solidFill>
                <a:schemeClr val="bg1"/>
              </a:solidFill>
              <a:effectLst/>
              <a:latin typeface="Times New Roman" panose="02020603050405020304" pitchFamily="18" charset="0"/>
              <a:cs typeface="Times New Roman" panose="02020603050405020304" pitchFamily="18" charset="0"/>
            </a:endParaRPr>
          </a:p>
          <a:p>
            <a:pPr algn="l" rtl="0" fontAlgn="base">
              <a:buFont typeface="Arial" panose="020B0604020202020204" pitchFamily="34" charset="0"/>
              <a:buChar char="•"/>
            </a:pPr>
            <a:r>
              <a:rPr lang="en-US" sz="2400" b="0" i="0" u="none" strike="noStrike" dirty="0">
                <a:solidFill>
                  <a:schemeClr val="bg1"/>
                </a:solidFill>
                <a:effectLst/>
                <a:latin typeface="Times New Roman" panose="02020603050405020304" pitchFamily="18" charset="0"/>
                <a:cs typeface="Times New Roman" panose="02020603050405020304" pitchFamily="18" charset="0"/>
              </a:rPr>
              <a:t>Flow Diagram</a:t>
            </a:r>
          </a:p>
          <a:p>
            <a:pPr algn="l" rtl="0" fontAlgn="base">
              <a:buFont typeface="Arial" panose="020B0604020202020204" pitchFamily="34" charset="0"/>
              <a:buChar char="•"/>
            </a:pPr>
            <a:r>
              <a:rPr lang="en-US" sz="2400" b="0" i="0" dirty="0">
                <a:solidFill>
                  <a:schemeClr val="bg1"/>
                </a:solidFill>
                <a:effectLst/>
                <a:latin typeface="Times New Roman" panose="02020603050405020304" pitchFamily="18" charset="0"/>
                <a:cs typeface="Times New Roman" panose="02020603050405020304" pitchFamily="18" charset="0"/>
              </a:rPr>
              <a:t>Working Mechanism​</a:t>
            </a:r>
          </a:p>
          <a:p>
            <a:pPr algn="l" rtl="0" fontAlgn="base">
              <a:buFont typeface="Arial" panose="020B0604020202020204" pitchFamily="34" charset="0"/>
              <a:buChar char="•"/>
            </a:pPr>
            <a:r>
              <a:rPr lang="en-US" sz="2400" b="0" i="0" u="none" strike="noStrike" dirty="0">
                <a:solidFill>
                  <a:schemeClr val="bg1"/>
                </a:solidFill>
                <a:effectLst/>
                <a:latin typeface="Times New Roman" panose="02020603050405020304" pitchFamily="18" charset="0"/>
                <a:cs typeface="Times New Roman" panose="02020603050405020304" pitchFamily="18" charset="0"/>
              </a:rPr>
              <a:t>Outcome</a:t>
            </a:r>
            <a:r>
              <a:rPr lang="en-US" sz="2400" b="0" i="0" dirty="0">
                <a:solidFill>
                  <a:schemeClr val="bg1"/>
                </a:solidFill>
                <a:effectLst/>
                <a:latin typeface="Times New Roman" panose="02020603050405020304" pitchFamily="18" charset="0"/>
                <a:cs typeface="Times New Roman" panose="02020603050405020304" pitchFamily="18" charset="0"/>
              </a:rPr>
              <a:t>​</a:t>
            </a:r>
          </a:p>
          <a:p>
            <a:pPr algn="l" rtl="0" fontAlgn="base">
              <a:buFont typeface="Arial" panose="020B0604020202020204" pitchFamily="34" charset="0"/>
              <a:buChar char="•"/>
            </a:pPr>
            <a:r>
              <a:rPr lang="en-US" sz="2400" b="0" i="0" u="none" strike="noStrike" dirty="0">
                <a:solidFill>
                  <a:schemeClr val="bg1"/>
                </a:solidFill>
                <a:effectLst/>
                <a:latin typeface="Times New Roman" panose="02020603050405020304" pitchFamily="18" charset="0"/>
                <a:cs typeface="Times New Roman" panose="02020603050405020304" pitchFamily="18" charset="0"/>
              </a:rPr>
              <a:t>Conclusion </a:t>
            </a:r>
            <a:r>
              <a:rPr lang="en-US" sz="2400" b="0" i="0" dirty="0">
                <a:solidFill>
                  <a:schemeClr val="bg1"/>
                </a:solidFill>
                <a:effectLst/>
                <a:latin typeface="Times New Roman" panose="02020603050405020304" pitchFamily="18" charset="0"/>
                <a:cs typeface="Times New Roman" panose="02020603050405020304" pitchFamily="18" charset="0"/>
              </a:rPr>
              <a:t>​</a:t>
            </a:r>
          </a:p>
          <a:p>
            <a:pPr algn="l" rtl="0" fontAlgn="base">
              <a:buFont typeface="Arial" panose="020B0604020202020204" pitchFamily="34" charset="0"/>
              <a:buChar char="•"/>
            </a:pPr>
            <a:r>
              <a:rPr lang="en-US" sz="2400" b="0" i="0" u="none" strike="noStrike" dirty="0">
                <a:solidFill>
                  <a:schemeClr val="bg1"/>
                </a:solidFill>
                <a:effectLst/>
                <a:latin typeface="Times New Roman" panose="02020603050405020304" pitchFamily="18" charset="0"/>
                <a:cs typeface="Times New Roman" panose="02020603050405020304" pitchFamily="18" charset="0"/>
              </a:rPr>
              <a:t>Reference</a:t>
            </a:r>
            <a:r>
              <a:rPr lang="en-US" sz="2400" b="0" i="0" dirty="0">
                <a:solidFill>
                  <a:schemeClr val="bg1"/>
                </a:solidFill>
                <a:effectLst/>
                <a:latin typeface="Times New Roman" panose="02020603050405020304" pitchFamily="18" charset="0"/>
                <a:cs typeface="Times New Roman" panose="02020603050405020304" pitchFamily="18" charset="0"/>
              </a:rPr>
              <a:t>​</a:t>
            </a:r>
          </a:p>
          <a:p>
            <a:endParaRPr lang="en-IN" dirty="0"/>
          </a:p>
        </p:txBody>
      </p:sp>
      <p:cxnSp>
        <p:nvCxnSpPr>
          <p:cNvPr id="6" name="Straight Connector 5">
            <a:extLst>
              <a:ext uri="{FF2B5EF4-FFF2-40B4-BE49-F238E27FC236}">
                <a16:creationId xmlns:a16="http://schemas.microsoft.com/office/drawing/2014/main" id="{81C47E84-7006-4FB1-BC17-DFA5A80FE1EC}"/>
              </a:ext>
            </a:extLst>
          </p:cNvPr>
          <p:cNvCxnSpPr/>
          <p:nvPr/>
        </p:nvCxnSpPr>
        <p:spPr>
          <a:xfrm>
            <a:off x="4943475" y="2647950"/>
            <a:ext cx="0" cy="18478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AE7BA69-20B7-4438-B15F-058526236DDE}"/>
              </a:ext>
            </a:extLst>
          </p:cNvPr>
          <p:cNvSpPr/>
          <p:nvPr/>
        </p:nvSpPr>
        <p:spPr>
          <a:xfrm>
            <a:off x="5419744" y="866775"/>
            <a:ext cx="4705331" cy="5124450"/>
          </a:xfrm>
          <a:prstGeom prst="ellipse">
            <a:avLst/>
          </a:prstGeom>
          <a:solidFill>
            <a:srgbClr val="FFFF00">
              <a:alpha val="34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939164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9CB70-3B95-4606-8E88-59D61BF09B7E}"/>
              </a:ext>
            </a:extLst>
          </p:cNvPr>
          <p:cNvSpPr>
            <a:spLocks noGrp="1"/>
          </p:cNvSpPr>
          <p:nvPr>
            <p:ph type="title"/>
          </p:nvPr>
        </p:nvSpPr>
        <p:spPr>
          <a:xfrm>
            <a:off x="1085851" y="2546350"/>
            <a:ext cx="3295650" cy="1325563"/>
          </a:xfrm>
          <a:noFill/>
        </p:spPr>
        <p:txBody>
          <a:bodyPr>
            <a:normAutofit/>
          </a:bodyPr>
          <a:lstStyle/>
          <a:p>
            <a:r>
              <a:rPr lang="en-US" sz="4000" b="1" i="1" u="sng" dirty="0">
                <a:solidFill>
                  <a:schemeClr val="bg1"/>
                </a:solidFill>
                <a:latin typeface="Berlin Sans FB Demi" panose="020E0802020502020306" pitchFamily="34" charset="0"/>
              </a:rPr>
              <a:t>OBJECTIVES</a:t>
            </a:r>
            <a:endParaRPr lang="en-IN" sz="4000" b="1" i="1" u="sng"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326E28E4-E72B-4726-9392-84ADC20C0A9B}"/>
              </a:ext>
            </a:extLst>
          </p:cNvPr>
          <p:cNvSpPr>
            <a:spLocks noGrp="1"/>
          </p:cNvSpPr>
          <p:nvPr>
            <p:ph idx="1"/>
          </p:nvPr>
        </p:nvSpPr>
        <p:spPr>
          <a:xfrm>
            <a:off x="5886450" y="1638301"/>
            <a:ext cx="5800725" cy="3790950"/>
          </a:xfrm>
        </p:spPr>
        <p:txBody>
          <a:bodyPr>
            <a:normAutofit/>
          </a:bodyPr>
          <a:lstStyle/>
          <a:p>
            <a:r>
              <a:rPr lang="en-US" sz="1800" b="1" dirty="0">
                <a:solidFill>
                  <a:schemeClr val="bg1"/>
                </a:solidFill>
                <a:latin typeface="Times New Roman" panose="02020603050405020304" pitchFamily="18" charset="0"/>
                <a:cs typeface="Times New Roman" panose="02020603050405020304" pitchFamily="18" charset="0"/>
              </a:rPr>
              <a:t>To learn and implement the various topics learnt in C. ​</a:t>
            </a:r>
          </a:p>
          <a:p>
            <a:endParaRPr lang="en-US" sz="1800" b="1" dirty="0">
              <a:solidFill>
                <a:schemeClr val="bg1"/>
              </a:solidFill>
              <a:latin typeface="Times New Roman" panose="02020603050405020304" pitchFamily="18" charset="0"/>
              <a:cs typeface="Times New Roman" panose="02020603050405020304" pitchFamily="18" charset="0"/>
            </a:endParaRPr>
          </a:p>
          <a:p>
            <a:r>
              <a:rPr lang="en-US" sz="1800" b="1" dirty="0">
                <a:solidFill>
                  <a:schemeClr val="bg1"/>
                </a:solidFill>
                <a:latin typeface="Times New Roman" panose="02020603050405020304" pitchFamily="18" charset="0"/>
                <a:cs typeface="Times New Roman" panose="02020603050405020304" pitchFamily="18" charset="0"/>
              </a:rPr>
              <a:t>To use them to solve problems in real life.​</a:t>
            </a:r>
          </a:p>
          <a:p>
            <a:endParaRPr lang="en-US" sz="1800" b="1" dirty="0">
              <a:solidFill>
                <a:schemeClr val="bg1"/>
              </a:solidFill>
              <a:latin typeface="Times New Roman" panose="02020603050405020304" pitchFamily="18" charset="0"/>
              <a:cs typeface="Times New Roman" panose="02020603050405020304" pitchFamily="18" charset="0"/>
            </a:endParaRPr>
          </a:p>
          <a:p>
            <a:r>
              <a:rPr lang="en-US" sz="1800" b="1" dirty="0">
                <a:solidFill>
                  <a:schemeClr val="bg1"/>
                </a:solidFill>
                <a:latin typeface="Times New Roman" panose="02020603050405020304" pitchFamily="18" charset="0"/>
                <a:cs typeface="Times New Roman" panose="02020603050405020304" pitchFamily="18" charset="0"/>
              </a:rPr>
              <a:t>To gain experience of building a game using programming language C.​</a:t>
            </a:r>
          </a:p>
          <a:p>
            <a:endParaRPr lang="en-US" sz="1800" b="1" dirty="0">
              <a:solidFill>
                <a:schemeClr val="bg1"/>
              </a:solidFill>
              <a:latin typeface="Times New Roman" panose="02020603050405020304" pitchFamily="18" charset="0"/>
              <a:cs typeface="Times New Roman" panose="02020603050405020304" pitchFamily="18" charset="0"/>
            </a:endParaRPr>
          </a:p>
          <a:p>
            <a:r>
              <a:rPr lang="en-US" sz="1800" b="1" dirty="0">
                <a:solidFill>
                  <a:schemeClr val="bg1"/>
                </a:solidFill>
                <a:latin typeface="Times New Roman" panose="02020603050405020304" pitchFamily="18" charset="0"/>
                <a:cs typeface="Times New Roman" panose="02020603050405020304" pitchFamily="18" charset="0"/>
              </a:rPr>
              <a:t>To build teamwork and communication skills​</a:t>
            </a:r>
          </a:p>
          <a:p>
            <a:endParaRPr lang="en-US" sz="1800" b="1" dirty="0">
              <a:solidFill>
                <a:schemeClr val="bg1"/>
              </a:solidFill>
            </a:endParaRPr>
          </a:p>
          <a:p>
            <a:endParaRPr lang="en-IN" dirty="0"/>
          </a:p>
        </p:txBody>
      </p:sp>
      <p:cxnSp>
        <p:nvCxnSpPr>
          <p:cNvPr id="5" name="Straight Connector 4">
            <a:extLst>
              <a:ext uri="{FF2B5EF4-FFF2-40B4-BE49-F238E27FC236}">
                <a16:creationId xmlns:a16="http://schemas.microsoft.com/office/drawing/2014/main" id="{E3EECAC6-8F3A-4614-A96B-63AD2D28776E}"/>
              </a:ext>
            </a:extLst>
          </p:cNvPr>
          <p:cNvCxnSpPr/>
          <p:nvPr/>
        </p:nvCxnSpPr>
        <p:spPr>
          <a:xfrm>
            <a:off x="4914900" y="2382043"/>
            <a:ext cx="0" cy="16541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26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prstClr val="black"/>
              <a:schemeClr val="accent6">
                <a:tint val="45000"/>
                <a:satMod val="400000"/>
              </a:schemeClr>
            </a:duotone>
            <a:lum/>
            <a:extLst>
              <a:ext uri="{BEBA8EAE-BF5A-486C-A8C5-ECC9F3942E4B}">
                <a14:imgProps xmlns:a14="http://schemas.microsoft.com/office/drawing/2010/main">
                  <a14:imgLayer r:embed="rId3">
                    <a14:imgEffect>
                      <a14:colorTemperature colorTemp="5900"/>
                    </a14:imgEffect>
                    <a14:imgEffect>
                      <a14:saturation sat="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898E-D7E9-4902-87DD-9F6244D03D55}"/>
              </a:ext>
            </a:extLst>
          </p:cNvPr>
          <p:cNvSpPr>
            <a:spLocks noGrp="1"/>
          </p:cNvSpPr>
          <p:nvPr>
            <p:ph type="title"/>
          </p:nvPr>
        </p:nvSpPr>
        <p:spPr/>
        <p:txBody>
          <a:bodyPr>
            <a:normAutofit/>
          </a:bodyPr>
          <a:lstStyle/>
          <a:p>
            <a:r>
              <a:rPr lang="en-US" sz="4000" b="1" i="1" u="sng" dirty="0">
                <a:solidFill>
                  <a:schemeClr val="bg1"/>
                </a:solidFill>
                <a:latin typeface="Berlin Sans FB Demi" panose="020E0802020502020306" pitchFamily="34" charset="0"/>
              </a:rPr>
              <a:t>INTRODUCTION</a:t>
            </a:r>
            <a:endParaRPr lang="en-IN" sz="4000" b="1" i="1" u="sng"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6D7311B1-FEC9-4DEA-8CE1-6DFFE3EE8376}"/>
              </a:ext>
            </a:extLst>
          </p:cNvPr>
          <p:cNvSpPr>
            <a:spLocks noGrp="1"/>
          </p:cNvSpPr>
          <p:nvPr>
            <p:ph idx="1"/>
          </p:nvPr>
        </p:nvSpPr>
        <p:spPr>
          <a:xfrm>
            <a:off x="838200" y="1581150"/>
            <a:ext cx="10515600" cy="4733925"/>
          </a:xfrm>
          <a:noFill/>
        </p:spPr>
        <p:txBody>
          <a:bodyPr>
            <a:normAutofit fontScale="40000" lnSpcReduction="20000"/>
          </a:bodyPr>
          <a:lstStyle/>
          <a:p>
            <a:pPr marL="0" indent="0">
              <a:buNone/>
            </a:pPr>
            <a:endParaRPr lang="en-US" sz="4000" b="1" dirty="0">
              <a:solidFill>
                <a:schemeClr val="bg1"/>
              </a:solidFill>
              <a:latin typeface="Times New Roman" panose="02020603050405020304" pitchFamily="18" charset="0"/>
              <a:cs typeface="Times New Roman" panose="02020603050405020304" pitchFamily="18" charset="0"/>
            </a:endParaRP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The project is called the "Snake Game" which is the classic game, where we can control the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movements of a snake's head using some keys, and the target is to eat as many fruits as possible,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it's an arcade game, so the aim is to get our personal highest score or to beat other people's high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scores. The challenge however is that the snake's head can neither hit the boundary walls not its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own tail.​</a:t>
            </a:r>
          </a:p>
          <a:p>
            <a:endParaRPr lang="en-US" sz="4000" b="1" dirty="0">
              <a:solidFill>
                <a:schemeClr val="bg1"/>
              </a:solidFill>
              <a:latin typeface="Times New Roman" panose="02020603050405020304" pitchFamily="18" charset="0"/>
              <a:cs typeface="Times New Roman" panose="02020603050405020304" pitchFamily="18" charset="0"/>
            </a:endParaRP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We have made the game in C language using modular programming and creating several functions,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each responsible for a specific task. Like this it will be more maintain a </a:t>
            </a:r>
            <a:r>
              <a:rPr lang="en-US" sz="4000" b="1" dirty="0" err="1">
                <a:solidFill>
                  <a:schemeClr val="bg1"/>
                </a:solidFill>
                <a:latin typeface="Times New Roman" panose="02020603050405020304" pitchFamily="18" charset="0"/>
                <a:cs typeface="Times New Roman" panose="02020603050405020304" pitchFamily="18" charset="0"/>
              </a:rPr>
              <a:t>bleand</a:t>
            </a:r>
            <a:r>
              <a:rPr lang="en-US" sz="4000" b="1" dirty="0">
                <a:solidFill>
                  <a:schemeClr val="bg1"/>
                </a:solidFill>
                <a:latin typeface="Times New Roman" panose="02020603050405020304" pitchFamily="18" charset="0"/>
                <a:cs typeface="Times New Roman" panose="02020603050405020304" pitchFamily="18" charset="0"/>
              </a:rPr>
              <a:t> readable, the bugs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can also be fixed and spotted easily. We have incorporated data structures like 1 dimensional arrays and several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concepts like nested looping, rand() to randomize the spawning coordinate of the fruit, </a:t>
            </a:r>
            <a:r>
              <a:rPr lang="en-US" sz="4000" b="1" dirty="0" err="1">
                <a:solidFill>
                  <a:schemeClr val="bg1"/>
                </a:solidFill>
                <a:latin typeface="Times New Roman" panose="02020603050405020304" pitchFamily="18" charset="0"/>
                <a:cs typeface="Times New Roman" panose="02020603050405020304" pitchFamily="18" charset="0"/>
              </a:rPr>
              <a:t>getch</a:t>
            </a:r>
            <a:r>
              <a:rPr lang="en-US" sz="4000" b="1" dirty="0">
                <a:solidFill>
                  <a:schemeClr val="bg1"/>
                </a:solidFill>
                <a:latin typeface="Times New Roman" panose="02020603050405020304" pitchFamily="18" charset="0"/>
                <a:cs typeface="Times New Roman" panose="02020603050405020304" pitchFamily="18" charset="0"/>
              </a:rPr>
              <a:t>() to get input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from the user and based on that deciding the direction of the snakes head, a algorithms to increase the length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of the snake and store the new coordinates by shifting the older coordinates in the array through swapping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from left to right(explained in detail later).After the game is over, one can press the 'y' key and it will show the </a:t>
            </a:r>
          </a:p>
          <a:p>
            <a:pPr marL="0" indent="0">
              <a:buNone/>
            </a:pPr>
            <a:r>
              <a:rPr lang="en-US" sz="4000" b="1" dirty="0">
                <a:solidFill>
                  <a:schemeClr val="bg1"/>
                </a:solidFill>
                <a:latin typeface="Times New Roman" panose="02020603050405020304" pitchFamily="18" charset="0"/>
                <a:cs typeface="Times New Roman" panose="02020603050405020304" pitchFamily="18" charset="0"/>
              </a:rPr>
              <a:t>score the person has scored. We also tested the game vigorously and it's completely functional with no bugs.​</a:t>
            </a:r>
          </a:p>
          <a:p>
            <a:endParaRPr lang="en-US" dirty="0">
              <a:solidFill>
                <a:schemeClr val="bg1"/>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09A6C743-2CA1-4F03-8E07-1E525DA27F57}"/>
              </a:ext>
            </a:extLst>
          </p:cNvPr>
          <p:cNvSpPr/>
          <p:nvPr/>
        </p:nvSpPr>
        <p:spPr>
          <a:xfrm>
            <a:off x="971550" y="1581150"/>
            <a:ext cx="9591675" cy="5162550"/>
          </a:xfrm>
          <a:prstGeom prst="ellipse">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636890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6A96-B3E0-4679-ACF0-EBC1EC20C43B}"/>
              </a:ext>
            </a:extLst>
          </p:cNvPr>
          <p:cNvSpPr>
            <a:spLocks noGrp="1"/>
          </p:cNvSpPr>
          <p:nvPr>
            <p:ph type="title"/>
          </p:nvPr>
        </p:nvSpPr>
        <p:spPr>
          <a:xfrm>
            <a:off x="838200" y="365125"/>
            <a:ext cx="10515600" cy="739775"/>
          </a:xfrm>
        </p:spPr>
        <p:txBody>
          <a:bodyPr>
            <a:normAutofit/>
          </a:bodyPr>
          <a:lstStyle/>
          <a:p>
            <a:r>
              <a:rPr lang="en-US" sz="3200" b="1" i="1" u="sng" dirty="0">
                <a:latin typeface="Berlin Sans FB Demi" panose="020E0802020502020306" pitchFamily="34" charset="0"/>
              </a:rPr>
              <a:t>FLOW DIAGRAM</a:t>
            </a:r>
            <a:endParaRPr lang="en-IN" sz="3200" b="1" i="1" u="sng" dirty="0">
              <a:latin typeface="Berlin Sans FB Demi" panose="020E0802020502020306" pitchFamily="34" charset="0"/>
            </a:endParaRPr>
          </a:p>
        </p:txBody>
      </p:sp>
      <p:graphicFrame>
        <p:nvGraphicFramePr>
          <p:cNvPr id="4" name="Content Placeholder 3">
            <a:extLst>
              <a:ext uri="{FF2B5EF4-FFF2-40B4-BE49-F238E27FC236}">
                <a16:creationId xmlns:a16="http://schemas.microsoft.com/office/drawing/2014/main" id="{F8FA3FE1-C31C-4BF4-A313-6A1AA78EBD08}"/>
              </a:ext>
            </a:extLst>
          </p:cNvPr>
          <p:cNvGraphicFramePr>
            <a:graphicFrameLocks noGrp="1"/>
          </p:cNvGraphicFramePr>
          <p:nvPr>
            <p:ph idx="1"/>
            <p:extLst>
              <p:ext uri="{D42A27DB-BD31-4B8C-83A1-F6EECF244321}">
                <p14:modId xmlns:p14="http://schemas.microsoft.com/office/powerpoint/2010/main" val="407385292"/>
              </p:ext>
            </p:extLst>
          </p:nvPr>
        </p:nvGraphicFramePr>
        <p:xfrm>
          <a:off x="213064" y="1104900"/>
          <a:ext cx="11611992" cy="5500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836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367CE-935F-4CE8-8914-C377E0451C3D}"/>
              </a:ext>
            </a:extLst>
          </p:cNvPr>
          <p:cNvSpPr>
            <a:spLocks noGrp="1"/>
          </p:cNvSpPr>
          <p:nvPr>
            <p:ph type="title"/>
          </p:nvPr>
        </p:nvSpPr>
        <p:spPr/>
        <p:txBody>
          <a:bodyPr>
            <a:normAutofit/>
          </a:bodyPr>
          <a:lstStyle/>
          <a:p>
            <a:r>
              <a:rPr lang="en-US" sz="3200" b="1" i="1" u="sng" dirty="0">
                <a:solidFill>
                  <a:schemeClr val="bg1"/>
                </a:solidFill>
                <a:latin typeface="Berlin Sans FB Demi" panose="020E0802020502020306" pitchFamily="34" charset="0"/>
              </a:rPr>
              <a:t>WORKING MECHANISM</a:t>
            </a:r>
            <a:endParaRPr lang="en-IN" sz="3200" b="1" i="1" u="sng"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38EB3C3E-8105-4F87-90EA-B8C6B9E53050}"/>
              </a:ext>
            </a:extLst>
          </p:cNvPr>
          <p:cNvSpPr>
            <a:spLocks noGrp="1"/>
          </p:cNvSpPr>
          <p:nvPr>
            <p:ph idx="1"/>
          </p:nvPr>
        </p:nvSpPr>
        <p:spPr>
          <a:xfrm>
            <a:off x="838200" y="2162174"/>
            <a:ext cx="10515600" cy="3990975"/>
          </a:xfrm>
        </p:spPr>
        <p:txBody>
          <a:bodyPr>
            <a:normAutofit/>
          </a:bodyPr>
          <a:lstStyle/>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Build a boundary within which the game will be played</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The snake is represented with a 0(zero) symbol.</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The fruit is represented with an ‘F’ symbol.</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The snake can move in any direction according to the user with the help of the keyboard (W, A, S, D keys).</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When the snake eats a fruit the score will increase by 10 points.</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Whenever the snake will touch the boundary or its own tail the game is over.</a:t>
            </a:r>
          </a:p>
          <a:p>
            <a:pPr>
              <a:buFont typeface="Wingdings" panose="05000000000000000000" pitchFamily="2" charset="2"/>
              <a:buChar char="Ø"/>
            </a:pPr>
            <a:r>
              <a:rPr lang="en-US" sz="1800" dirty="0">
                <a:solidFill>
                  <a:schemeClr val="bg1"/>
                </a:solidFill>
                <a:latin typeface="Times New Roman" panose="02020603050405020304" pitchFamily="18" charset="0"/>
                <a:cs typeface="Times New Roman" panose="02020603050405020304" pitchFamily="18" charset="0"/>
              </a:rPr>
              <a:t>Generate a new food randomly. </a:t>
            </a:r>
            <a:endParaRPr lang="en-IN" sz="1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9200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4000"/>
            <a:duotone>
              <a:schemeClr val="bg2">
                <a:shade val="45000"/>
                <a:satMod val="135000"/>
              </a:schemeClr>
              <a:prstClr val="white"/>
            </a:duotone>
            <a:extLst>
              <a:ext uri="{837473B0-CC2E-450A-ABE3-18F120FF3D39}">
                <a1611:picAttrSrcUrl xmlns:a1611="http://schemas.microsoft.com/office/drawing/2016/11/main" r:id="rId3"/>
              </a:ext>
            </a:extLst>
          </a:blip>
          <a:srcRect/>
          <a:stretch>
            <a:fillRect t="-20000" b="-2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13F2-A9D6-42FD-8224-2409A225A01E}"/>
              </a:ext>
            </a:extLst>
          </p:cNvPr>
          <p:cNvSpPr>
            <a:spLocks noGrp="1"/>
          </p:cNvSpPr>
          <p:nvPr>
            <p:ph type="title"/>
          </p:nvPr>
        </p:nvSpPr>
        <p:spPr/>
        <p:txBody>
          <a:bodyPr>
            <a:normAutofit/>
          </a:bodyPr>
          <a:lstStyle/>
          <a:p>
            <a:r>
              <a:rPr lang="en-US" sz="3200" b="1" i="1" u="sng" dirty="0">
                <a:latin typeface="Berlin Sans FB Demi" panose="020E0802020502020306" pitchFamily="34" charset="0"/>
              </a:rPr>
              <a:t>INITIALIZATION</a:t>
            </a:r>
            <a:endParaRPr lang="en-IN" sz="3200" b="1" i="1" u="sng" dirty="0">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593D0E1B-0FD2-4380-9CA0-9F06F47D0424}"/>
              </a:ext>
            </a:extLst>
          </p:cNvPr>
          <p:cNvSpPr>
            <a:spLocks noGrp="1"/>
          </p:cNvSpPr>
          <p:nvPr>
            <p:ph idx="1"/>
          </p:nvPr>
        </p:nvSpPr>
        <p:spPr>
          <a:noFill/>
        </p:spPr>
        <p:txBody>
          <a:bodyPr>
            <a:noAutofit/>
          </a:bodyPr>
          <a:lstStyle/>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First of all we declare and initialize the global variables.​</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height - height of the boundary wall​</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width - width of the boundary wall​</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gameover - denotes if the game is going on or not.​</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x,y - coordinates of the snake's head​</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fruitx, fruity - coordinates of the fruit ​</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score - total points the player has scored, 10 points for eating each fruit.​</a:t>
            </a:r>
          </a:p>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flag - represents the current direction of the snakes head.​</a:t>
            </a:r>
          </a:p>
        </p:txBody>
      </p:sp>
    </p:spTree>
    <p:extLst>
      <p:ext uri="{BB962C8B-B14F-4D97-AF65-F5344CB8AC3E}">
        <p14:creationId xmlns:p14="http://schemas.microsoft.com/office/powerpoint/2010/main" val="226750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21000" b="-21000"/>
          </a:stretch>
        </a:blip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EC918C54-4EB9-459F-9AB9-6A2022E1C6CF}"/>
              </a:ext>
            </a:extLst>
          </p:cNvPr>
          <p:cNvSpPr>
            <a:spLocks noGrp="1"/>
          </p:cNvSpPr>
          <p:nvPr>
            <p:ph sz="half" idx="1"/>
          </p:nvPr>
        </p:nvSpPr>
        <p:spPr>
          <a:xfrm>
            <a:off x="1381124" y="3016249"/>
            <a:ext cx="1981200" cy="517525"/>
          </a:xfrm>
        </p:spPr>
        <p:txBody>
          <a:bodyPr>
            <a:noAutofit/>
          </a:bodyPr>
          <a:lstStyle/>
          <a:p>
            <a:pPr marL="0" indent="0">
              <a:buNone/>
            </a:pPr>
            <a:r>
              <a:rPr lang="en-US" sz="3200" i="1" dirty="0">
                <a:solidFill>
                  <a:schemeClr val="bg1"/>
                </a:solidFill>
                <a:latin typeface="Berlin Sans FB Demi" panose="020E0802020502020306" pitchFamily="34" charset="0"/>
              </a:rPr>
              <a:t>main( )</a:t>
            </a:r>
            <a:endParaRPr lang="en-IN" sz="3200" i="1" dirty="0">
              <a:solidFill>
                <a:schemeClr val="bg1"/>
              </a:solidFill>
              <a:latin typeface="Berlin Sans FB Demi" panose="020E0802020502020306" pitchFamily="34" charset="0"/>
            </a:endParaRPr>
          </a:p>
        </p:txBody>
      </p:sp>
      <p:sp>
        <p:nvSpPr>
          <p:cNvPr id="20" name="Content Placeholder 19">
            <a:extLst>
              <a:ext uri="{FF2B5EF4-FFF2-40B4-BE49-F238E27FC236}">
                <a16:creationId xmlns:a16="http://schemas.microsoft.com/office/drawing/2014/main" id="{9FDEACB2-5E5D-41E2-A8D1-8DCFC1BD3966}"/>
              </a:ext>
            </a:extLst>
          </p:cNvPr>
          <p:cNvSpPr>
            <a:spLocks noGrp="1"/>
          </p:cNvSpPr>
          <p:nvPr>
            <p:ph sz="half" idx="2"/>
          </p:nvPr>
        </p:nvSpPr>
        <p:spPr>
          <a:xfrm>
            <a:off x="4676775" y="1790700"/>
            <a:ext cx="5743575" cy="3810000"/>
          </a:xfrm>
        </p:spPr>
        <p:txBody>
          <a:bodyPr/>
          <a:lstStyle/>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D</a:t>
            </a:r>
            <a:r>
              <a:rPr lang="en-IN" sz="1800" dirty="0">
                <a:effectLst/>
                <a:latin typeface="Times New Roman" panose="02020603050405020304" pitchFamily="18" charset="0"/>
                <a:ea typeface="Calibri" panose="020F0502020204030204" pitchFamily="34" charset="0"/>
                <a:cs typeface="Calibri" panose="020F0502020204030204" pitchFamily="34" charset="0"/>
              </a:rPr>
              <a:t>eclaring of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ch</a:t>
            </a:r>
            <a:r>
              <a:rPr lang="en-IN" sz="1800" dirty="0">
                <a:effectLst/>
                <a:latin typeface="Times New Roman" panose="02020603050405020304" pitchFamily="18" charset="0"/>
                <a:ea typeface="Calibri" panose="020F0502020204030204" pitchFamily="34" charset="0"/>
                <a:cs typeface="Calibri" panose="020F0502020204030204" pitchFamily="34" charset="0"/>
              </a:rPr>
              <a:t>' variable</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D</a:t>
            </a:r>
            <a:r>
              <a:rPr lang="en-IN" sz="1800" dirty="0">
                <a:effectLst/>
                <a:latin typeface="Times New Roman" panose="02020603050405020304" pitchFamily="18" charset="0"/>
                <a:ea typeface="Calibri" panose="020F0502020204030204" pitchFamily="34" charset="0"/>
                <a:cs typeface="Calibri" panose="020F0502020204030204" pitchFamily="34" charset="0"/>
              </a:rPr>
              <a:t>eclare and initialize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counttail</a:t>
            </a:r>
            <a:r>
              <a:rPr lang="en-IN" sz="1800" dirty="0">
                <a:effectLst/>
                <a:latin typeface="Times New Roman" panose="02020603050405020304" pitchFamily="18" charset="0"/>
                <a:ea typeface="Calibri" panose="020F0502020204030204" pitchFamily="34" charset="0"/>
                <a:cs typeface="Calibri" panose="020F0502020204030204" pitchFamily="34" charset="0"/>
              </a:rPr>
              <a:t> to 0 .</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C</a:t>
            </a:r>
            <a:r>
              <a:rPr lang="en-IN" sz="1800" dirty="0">
                <a:effectLst/>
                <a:latin typeface="Times New Roman" panose="02020603050405020304" pitchFamily="18" charset="0"/>
                <a:ea typeface="Calibri" panose="020F0502020204030204" pitchFamily="34" charset="0"/>
                <a:cs typeface="Calibri" panose="020F0502020204030204" pitchFamily="34" charset="0"/>
              </a:rPr>
              <a:t>all the setup( ) function.</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S</a:t>
            </a:r>
            <a:r>
              <a:rPr lang="en-IN" sz="1800" dirty="0">
                <a:effectLst/>
                <a:latin typeface="Times New Roman" panose="02020603050405020304" pitchFamily="18" charset="0"/>
                <a:ea typeface="Calibri" panose="020F0502020204030204" pitchFamily="34" charset="0"/>
                <a:cs typeface="Calibri" panose="020F0502020204030204" pitchFamily="34" charset="0"/>
              </a:rPr>
              <a:t>tart an infinite loop as '1' as condition which will always stay true</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C</a:t>
            </a:r>
            <a:r>
              <a:rPr lang="en-IN" sz="1800" dirty="0">
                <a:effectLst/>
                <a:latin typeface="Times New Roman" panose="02020603050405020304" pitchFamily="18" charset="0"/>
                <a:ea typeface="Calibri" panose="020F0502020204030204" pitchFamily="34" charset="0"/>
                <a:cs typeface="Calibri" panose="020F0502020204030204" pitchFamily="34" charset="0"/>
              </a:rPr>
              <a:t>all draw( ) </a:t>
            </a:r>
            <a:r>
              <a:rPr lang="en-IN" sz="1800" dirty="0">
                <a:latin typeface="Times New Roman" panose="02020603050405020304" pitchFamily="18" charset="0"/>
                <a:ea typeface="Calibri" panose="020F0502020204030204" pitchFamily="34" charset="0"/>
                <a:cs typeface="Calibri" panose="020F0502020204030204" pitchFamily="34" charset="0"/>
                <a:sym typeface="Wingdings" panose="05000000000000000000" pitchFamily="2" charset="2"/>
              </a:rPr>
              <a:t></a:t>
            </a:r>
            <a:r>
              <a:rPr lang="en-IN" sz="1800" dirty="0">
                <a:effectLst/>
                <a:latin typeface="Times New Roman" panose="02020603050405020304" pitchFamily="18" charset="0"/>
                <a:ea typeface="Calibri" panose="020F0502020204030204" pitchFamily="34" charset="0"/>
                <a:cs typeface="Calibri" panose="020F0502020204030204" pitchFamily="34" charset="0"/>
              </a:rPr>
              <a:t>input( ) </a:t>
            </a:r>
            <a:r>
              <a:rPr lang="en-IN" sz="1800" dirty="0">
                <a:latin typeface="Times New Roman" panose="02020603050405020304" pitchFamily="18" charset="0"/>
                <a:ea typeface="Calibri" panose="020F0502020204030204" pitchFamily="34" charset="0"/>
                <a:cs typeface="Calibri" panose="020F0502020204030204" pitchFamily="34" charset="0"/>
                <a:sym typeface="Wingdings" panose="05000000000000000000" pitchFamily="2" charset="2"/>
              </a:rPr>
              <a:t></a:t>
            </a:r>
            <a:r>
              <a:rPr lang="en-IN" sz="1800" dirty="0">
                <a:effectLst/>
                <a:latin typeface="Times New Roman" panose="02020603050405020304" pitchFamily="18" charset="0"/>
                <a:ea typeface="Calibri" panose="020F0502020204030204" pitchFamily="34" charset="0"/>
                <a:cs typeface="Calibri" panose="020F0502020204030204" pitchFamily="34" charset="0"/>
              </a:rPr>
              <a:t>logic( ). </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cs typeface="Calibri" panose="020F0502020204030204" pitchFamily="34" charset="0"/>
              </a:rPr>
              <a:t>If the value of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gameover</a:t>
            </a:r>
            <a:r>
              <a:rPr lang="en-IN" sz="1800" dirty="0">
                <a:effectLst/>
                <a:latin typeface="Times New Roman" panose="02020603050405020304" pitchFamily="18" charset="0"/>
                <a:ea typeface="Calibri" panose="020F0502020204030204" pitchFamily="34" charset="0"/>
                <a:cs typeface="Calibri" panose="020F0502020204030204" pitchFamily="34" charset="0"/>
              </a:rPr>
              <a:t>' variable becomes 1 we break the loop using the break statement.</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cs typeface="Calibri" panose="020F0502020204030204" pitchFamily="34" charset="0"/>
              </a:rPr>
              <a:t>Take input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ch</a:t>
            </a:r>
            <a:r>
              <a:rPr lang="en-IN" sz="1800" dirty="0">
                <a:effectLst/>
                <a:latin typeface="Times New Roman" panose="02020603050405020304" pitchFamily="18" charset="0"/>
                <a:ea typeface="Calibri" panose="020F0502020204030204" pitchFamily="34" charset="0"/>
                <a:cs typeface="Calibri" panose="020F0502020204030204" pitchFamily="34" charset="0"/>
              </a:rPr>
              <a:t> using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getch</a:t>
            </a:r>
            <a:r>
              <a:rPr lang="en-IN" sz="1800" dirty="0">
                <a:effectLst/>
                <a:latin typeface="Times New Roman" panose="02020603050405020304" pitchFamily="18" charset="0"/>
                <a:ea typeface="Calibri" panose="020F0502020204030204" pitchFamily="34" charset="0"/>
                <a:cs typeface="Calibri" panose="020F0502020204030204" pitchFamily="34" charset="0"/>
              </a:rPr>
              <a:t>( ).</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C</a:t>
            </a:r>
            <a:r>
              <a:rPr lang="en-IN" sz="1800" dirty="0">
                <a:effectLst/>
                <a:latin typeface="Times New Roman" panose="02020603050405020304" pitchFamily="18" charset="0"/>
                <a:ea typeface="Calibri" panose="020F0502020204030204" pitchFamily="34" charset="0"/>
                <a:cs typeface="Calibri" panose="020F0502020204030204" pitchFamily="34" charset="0"/>
              </a:rPr>
              <a:t>heck if equal to either 'y' or 'Y' ,if condition is true, print "GAME OVER" and the score.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24" name="Oval 23">
            <a:extLst>
              <a:ext uri="{FF2B5EF4-FFF2-40B4-BE49-F238E27FC236}">
                <a16:creationId xmlns:a16="http://schemas.microsoft.com/office/drawing/2014/main" id="{D1326435-F2EA-4F94-B8BA-4F728A584BF9}"/>
              </a:ext>
            </a:extLst>
          </p:cNvPr>
          <p:cNvSpPr/>
          <p:nvPr/>
        </p:nvSpPr>
        <p:spPr>
          <a:xfrm>
            <a:off x="3867148" y="726279"/>
            <a:ext cx="7277102" cy="561498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Declaring of 'ch' variable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Declare and initialize counttail to 0 .</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Call the setup( ) function.</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Start an infinite loop as '1' as condition which will always stay true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Call draw( ) </a:t>
            </a: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sym typeface="Wingdings" panose="05000000000000000000" pitchFamily="2" charset="2"/>
              </a:rPr>
              <a:t></a:t>
            </a: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input( ) </a:t>
            </a: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sym typeface="Wingdings" panose="05000000000000000000" pitchFamily="2" charset="2"/>
              </a:rPr>
              <a:t></a:t>
            </a: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logic( ). </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If the value of 'gameover' variable becomes 1 we break the loop using the break statement.</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Take input ch using getch( ).</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Check if equal to either 'y' or 'Y' ,if condition is true, print "GAME OVER" and the score.</a:t>
            </a:r>
            <a:endPar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044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prstClr val="black"/>
              <a:schemeClr val="accent6">
                <a:tint val="45000"/>
                <a:satMod val="400000"/>
              </a:schemeClr>
            </a:duotone>
            <a:extLst>
              <a:ext uri="{837473B0-CC2E-450A-ABE3-18F120FF3D39}">
                <a1611:picAttrSrcUrl xmlns:a1611="http://schemas.microsoft.com/office/drawing/2016/11/main" r:id="rId3"/>
              </a:ext>
            </a:extLst>
          </a:blip>
          <a:srcRect/>
          <a:stretch>
            <a:fillRect t="-74000" b="-74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6486B-D4D8-4904-A366-9C75FD1D352B}"/>
              </a:ext>
            </a:extLst>
          </p:cNvPr>
          <p:cNvSpPr>
            <a:spLocks noGrp="1"/>
          </p:cNvSpPr>
          <p:nvPr>
            <p:ph idx="1"/>
          </p:nvPr>
        </p:nvSpPr>
        <p:spPr>
          <a:xfrm>
            <a:off x="4400550" y="933451"/>
            <a:ext cx="6954838" cy="5429250"/>
          </a:xfrm>
        </p:spPr>
        <p:txBody>
          <a:bodyPr>
            <a:normAutofit/>
          </a:bodyPr>
          <a:lstStyle/>
          <a:p>
            <a:pPr marL="327660" indent="-285750">
              <a:spcAft>
                <a:spcPts val="600"/>
              </a:spcAft>
              <a:buFont typeface="Wingdings" panose="05000000000000000000" pitchFamily="2" charset="2"/>
              <a:buChar char="q"/>
            </a:pPr>
            <a:endParaRPr lang="en-IN" sz="1800" dirty="0">
              <a:latin typeface="Times New Roman" panose="02020603050405020304" pitchFamily="18" charset="0"/>
              <a:ea typeface="Calibri" panose="020F0502020204030204" pitchFamily="34" charset="0"/>
              <a:cs typeface="Calibri" panose="020F0502020204030204" pitchFamily="34" charset="0"/>
            </a:endParaRPr>
          </a:p>
          <a:p>
            <a:pPr marL="327660" indent="-285750">
              <a:spcAft>
                <a:spcPts val="600"/>
              </a:spcAft>
              <a:buFont typeface="Wingdings" panose="05000000000000000000" pitchFamily="2" charset="2"/>
              <a:buChar char="q"/>
            </a:pPr>
            <a:endParaRPr lang="en-IN" sz="1800" dirty="0">
              <a:latin typeface="Times New Roman" panose="02020603050405020304" pitchFamily="18" charset="0"/>
              <a:ea typeface="Calibri" panose="020F0502020204030204" pitchFamily="34" charset="0"/>
              <a:cs typeface="Calibri" panose="020F0502020204030204" pitchFamily="34" charset="0"/>
            </a:endParaRPr>
          </a:p>
          <a:p>
            <a:pPr marL="327660" indent="-285750">
              <a:spcAft>
                <a:spcPts val="600"/>
              </a:spcAft>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I</a:t>
            </a:r>
            <a:r>
              <a:rPr lang="en-IN" sz="1800" dirty="0">
                <a:effectLst/>
                <a:latin typeface="Times New Roman" panose="02020603050405020304" pitchFamily="18" charset="0"/>
                <a:ea typeface="Calibri" panose="020F0502020204030204" pitchFamily="34" charset="0"/>
                <a:cs typeface="Calibri" panose="020F0502020204030204" pitchFamily="34" charset="0"/>
              </a:rPr>
              <a:t>nitialize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gameover</a:t>
            </a:r>
            <a:r>
              <a:rPr lang="en-IN" sz="1800" dirty="0">
                <a:effectLst/>
                <a:latin typeface="Times New Roman" panose="02020603050405020304" pitchFamily="18" charset="0"/>
                <a:ea typeface="Calibri" panose="020F0502020204030204" pitchFamily="34" charset="0"/>
                <a:cs typeface="Calibri" panose="020F0502020204030204" pitchFamily="34" charset="0"/>
              </a:rPr>
              <a:t>==0.</a:t>
            </a:r>
          </a:p>
          <a:p>
            <a:pPr marL="327660" indent="-285750">
              <a:spcAft>
                <a:spcPts val="600"/>
              </a:spcAft>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cs typeface="Calibri" panose="020F0502020204030204" pitchFamily="34" charset="0"/>
              </a:rPr>
              <a:t>Initial coordinates of the snake are kept width/2 and height/2 for x and y, respectively.</a:t>
            </a:r>
            <a:endParaRPr lang="en-IN" sz="1800" dirty="0">
              <a:latin typeface="Times New Roman" panose="02020603050405020304" pitchFamily="18" charset="0"/>
              <a:ea typeface="Calibri" panose="020F0502020204030204" pitchFamily="34" charset="0"/>
              <a:cs typeface="Calibri" panose="020F0502020204030204" pitchFamily="34" charset="0"/>
            </a:endParaRPr>
          </a:p>
          <a:p>
            <a:pPr marL="327660" indent="-285750">
              <a:spcAft>
                <a:spcPts val="600"/>
              </a:spcAft>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cs typeface="Calibri" panose="020F0502020204030204" pitchFamily="34" charset="0"/>
              </a:rPr>
              <a:t>Initialize the coordinates of the fruit or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fruitx</a:t>
            </a:r>
            <a:r>
              <a:rPr lang="en-IN" sz="1800" dirty="0">
                <a:effectLst/>
                <a:latin typeface="Times New Roman" panose="02020603050405020304" pitchFamily="18" charset="0"/>
                <a:ea typeface="Calibri" panose="020F0502020204030204" pitchFamily="34" charset="0"/>
                <a:cs typeface="Calibri" panose="020F0502020204030204" pitchFamily="34" charset="0"/>
              </a:rPr>
              <a:t> coordinate using rand()%39.</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marL="327660" indent="-285750">
              <a:spcAft>
                <a:spcPts val="600"/>
              </a:spcAft>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In case the food comes at zero value, </a:t>
            </a:r>
            <a:r>
              <a:rPr lang="en-IN" sz="1800" dirty="0">
                <a:effectLst/>
                <a:latin typeface="Times New Roman" panose="02020603050405020304" pitchFamily="18" charset="0"/>
                <a:ea typeface="Calibri" panose="020F0502020204030204" pitchFamily="34" charset="0"/>
                <a:cs typeface="Calibri" panose="020F0502020204030204" pitchFamily="34" charset="0"/>
              </a:rPr>
              <a:t>use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goto</a:t>
            </a:r>
            <a:r>
              <a:rPr lang="en-IN" sz="1800" dirty="0">
                <a:effectLst/>
                <a:latin typeface="Times New Roman" panose="02020603050405020304" pitchFamily="18" charset="0"/>
                <a:ea typeface="Calibri" panose="020F0502020204030204" pitchFamily="34" charset="0"/>
                <a:cs typeface="Calibri" panose="020F0502020204030204" pitchFamily="34" charset="0"/>
              </a:rPr>
              <a:t>' statement to find another random value of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fruitx</a:t>
            </a:r>
            <a:r>
              <a:rPr lang="en-IN" sz="1800" dirty="0">
                <a:effectLst/>
                <a:latin typeface="Times New Roman" panose="02020603050405020304" pitchFamily="18" charset="0"/>
                <a:ea typeface="Calibri" panose="020F0502020204030204" pitchFamily="34" charset="0"/>
                <a:cs typeface="Calibri" panose="020F0502020204030204" pitchFamily="34" charset="0"/>
              </a:rPr>
              <a:t> (non zero).</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4" name="Text Placeholder 3">
            <a:extLst>
              <a:ext uri="{FF2B5EF4-FFF2-40B4-BE49-F238E27FC236}">
                <a16:creationId xmlns:a16="http://schemas.microsoft.com/office/drawing/2014/main" id="{02393D92-C525-4270-8A33-A62F1B960BA2}"/>
              </a:ext>
            </a:extLst>
          </p:cNvPr>
          <p:cNvSpPr>
            <a:spLocks noGrp="1"/>
          </p:cNvSpPr>
          <p:nvPr>
            <p:ph type="body" sz="half" idx="2"/>
          </p:nvPr>
        </p:nvSpPr>
        <p:spPr>
          <a:xfrm>
            <a:off x="1360487" y="2943224"/>
            <a:ext cx="2239963" cy="809625"/>
          </a:xfrm>
        </p:spPr>
        <p:txBody>
          <a:bodyPr>
            <a:normAutofit/>
          </a:bodyPr>
          <a:lstStyle/>
          <a:p>
            <a:r>
              <a:rPr lang="en-US" sz="3200" i="1" dirty="0">
                <a:solidFill>
                  <a:schemeClr val="bg1"/>
                </a:solidFill>
                <a:latin typeface="Berlin Sans FB Demi" panose="020E0802020502020306" pitchFamily="34" charset="0"/>
              </a:rPr>
              <a:t>setup( )</a:t>
            </a:r>
            <a:endParaRPr lang="en-IN" sz="3200" i="1" dirty="0">
              <a:solidFill>
                <a:schemeClr val="bg1"/>
              </a:solidFill>
              <a:latin typeface="Berlin Sans FB Demi" panose="020E0802020502020306" pitchFamily="34" charset="0"/>
            </a:endParaRPr>
          </a:p>
        </p:txBody>
      </p:sp>
      <p:sp>
        <p:nvSpPr>
          <p:cNvPr id="5" name="Rectangle: Rounded Corners 4">
            <a:extLst>
              <a:ext uri="{FF2B5EF4-FFF2-40B4-BE49-F238E27FC236}">
                <a16:creationId xmlns:a16="http://schemas.microsoft.com/office/drawing/2014/main" id="{AC44A9A6-6F02-46DC-9444-2361A186BF46}"/>
              </a:ext>
            </a:extLst>
          </p:cNvPr>
          <p:cNvSpPr/>
          <p:nvPr/>
        </p:nvSpPr>
        <p:spPr>
          <a:xfrm>
            <a:off x="4257674" y="1295400"/>
            <a:ext cx="7097713" cy="410527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327660" marR="0" lvl="0" indent="-28575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Initialize gameover==0.</a:t>
            </a:r>
          </a:p>
          <a:p>
            <a:pPr marL="327660" marR="0" lvl="0" indent="-28575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Initial coordinates of the snake are kept width/2 and height/2 for x and y, respectively.</a:t>
            </a:r>
          </a:p>
          <a:p>
            <a:pPr marL="327660" marR="0" lvl="0" indent="-28575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Initialize the coordinates of the fruit or fruitx coordinate using rand()%39.</a:t>
            </a: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27660" marR="0" lvl="0" indent="-28575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 case the food comes at zero value, use 'goto' statement to find another random value of fruitx (non zero).</a:t>
            </a:r>
            <a:endPar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6045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4392C-50C9-46C1-88A6-6F3EBC2EBA57}"/>
              </a:ext>
            </a:extLst>
          </p:cNvPr>
          <p:cNvSpPr>
            <a:spLocks noGrp="1"/>
          </p:cNvSpPr>
          <p:nvPr>
            <p:ph type="title"/>
          </p:nvPr>
        </p:nvSpPr>
        <p:spPr>
          <a:xfrm>
            <a:off x="1687514" y="2719387"/>
            <a:ext cx="1960562" cy="704850"/>
          </a:xfrm>
        </p:spPr>
        <p:txBody>
          <a:bodyPr/>
          <a:lstStyle/>
          <a:p>
            <a:r>
              <a:rPr lang="en-US" i="1" dirty="0">
                <a:solidFill>
                  <a:schemeClr val="bg1"/>
                </a:solidFill>
                <a:latin typeface="Berlin Sans FB Demi" panose="020E0802020502020306" pitchFamily="34" charset="0"/>
              </a:rPr>
              <a:t>draw( )</a:t>
            </a:r>
            <a:endParaRPr lang="en-IN" i="1"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26920DAD-4041-438C-97EF-E07A040928B1}"/>
              </a:ext>
            </a:extLst>
          </p:cNvPr>
          <p:cNvSpPr>
            <a:spLocks noGrp="1"/>
          </p:cNvSpPr>
          <p:nvPr>
            <p:ph idx="1"/>
          </p:nvPr>
        </p:nvSpPr>
        <p:spPr/>
        <p:txBody>
          <a:bodyPr>
            <a:normAutofit/>
          </a:bodyPr>
          <a:lstStyle/>
          <a:p>
            <a:pPr>
              <a:spcAft>
                <a:spcPts val="600"/>
              </a:spcAft>
              <a:buFont typeface="Wingdings" panose="05000000000000000000" pitchFamily="2" charset="2"/>
              <a:buChar char="q"/>
            </a:pPr>
            <a:endParaRPr lang="en-IN" sz="1800"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buFont typeface="Wingdings" panose="05000000000000000000" pitchFamily="2" charset="2"/>
              <a:buChar char="q"/>
            </a:pPr>
            <a:endParaRPr lang="en-IN" sz="1800"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I</a:t>
            </a:r>
            <a:r>
              <a:rPr lang="en-IN" sz="1800" dirty="0">
                <a:effectLst/>
                <a:latin typeface="Times New Roman" panose="02020603050405020304" pitchFamily="18" charset="0"/>
                <a:ea typeface="Calibri" panose="020F0502020204030204" pitchFamily="34" charset="0"/>
                <a:cs typeface="Calibri" panose="020F0502020204030204" pitchFamily="34" charset="0"/>
              </a:rPr>
              <a:t>nitialize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i</a:t>
            </a:r>
            <a:r>
              <a:rPr lang="en-IN" sz="1800" dirty="0">
                <a:effectLst/>
                <a:latin typeface="Times New Roman" panose="02020603050405020304" pitchFamily="18" charset="0"/>
                <a:ea typeface="Calibri" panose="020F0502020204030204" pitchFamily="34" charset="0"/>
                <a:cs typeface="Calibri" panose="020F0502020204030204" pitchFamily="34" charset="0"/>
              </a:rPr>
              <a:t> and j to use in the nested for loop.</a:t>
            </a:r>
            <a:endParaRPr lang="en-IN" sz="1800" dirty="0">
              <a:latin typeface="Calibri" panose="020F0502020204030204" pitchFamily="34" charset="0"/>
              <a:ea typeface="Calibri" panose="020F0502020204030204" pitchFamily="34" charset="0"/>
              <a:cs typeface="Calibri" panose="020F0502020204030204" pitchFamily="34" charset="0"/>
            </a:endParaRPr>
          </a:p>
          <a:p>
            <a:pPr>
              <a:spcAft>
                <a:spcPts val="600"/>
              </a:spcAft>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C</a:t>
            </a:r>
            <a:r>
              <a:rPr lang="en-IN" sz="1800" dirty="0">
                <a:effectLst/>
                <a:latin typeface="Times New Roman" panose="02020603050405020304" pitchFamily="18" charset="0"/>
                <a:ea typeface="Calibri" panose="020F0502020204030204" pitchFamily="34" charset="0"/>
                <a:cs typeface="Calibri" panose="020F0502020204030204" pitchFamily="34" charset="0"/>
              </a:rPr>
              <a:t>lear the screen</a:t>
            </a:r>
            <a:r>
              <a:rPr lang="en-IN" sz="1800" dirty="0">
                <a:latin typeface="Times New Roman" panose="02020603050405020304" pitchFamily="18" charset="0"/>
                <a:ea typeface="Calibri" panose="020F0502020204030204" pitchFamily="34" charset="0"/>
                <a:cs typeface="Calibri" panose="020F0502020204030204" pitchFamily="34" charset="0"/>
              </a:rPr>
              <a:t> using </a:t>
            </a:r>
            <a:r>
              <a:rPr lang="en-IN" sz="1800" dirty="0">
                <a:effectLst/>
                <a:latin typeface="Times New Roman" panose="02020603050405020304" pitchFamily="18" charset="0"/>
                <a:ea typeface="Calibri" panose="020F0502020204030204" pitchFamily="34" charset="0"/>
              </a:rPr>
              <a:t>system("</a:t>
            </a:r>
            <a:r>
              <a:rPr lang="en-IN" sz="1800" dirty="0" err="1">
                <a:effectLst/>
                <a:latin typeface="Times New Roman" panose="02020603050405020304" pitchFamily="18" charset="0"/>
                <a:ea typeface="Calibri" panose="020F0502020204030204" pitchFamily="34" charset="0"/>
              </a:rPr>
              <a:t>cls</a:t>
            </a:r>
            <a:r>
              <a:rPr lang="en-IN" sz="1800" dirty="0">
                <a:effectLst/>
                <a:latin typeface="Times New Roman" panose="02020603050405020304" pitchFamily="18" charset="0"/>
                <a:ea typeface="Calibri" panose="020F0502020204030204" pitchFamily="34" charset="0"/>
              </a:rPr>
              <a:t>").</a:t>
            </a:r>
            <a:endParaRPr lang="en-IN" sz="1800" dirty="0">
              <a:effectLst/>
              <a:latin typeface="Times New Roman" panose="02020603050405020304" pitchFamily="18" charset="0"/>
              <a:ea typeface="Calibri" panose="020F0502020204030204" pitchFamily="34" charset="0"/>
              <a:cs typeface="Calibri" panose="020F0502020204030204" pitchFamily="34" charset="0"/>
            </a:endParaRPr>
          </a:p>
          <a:p>
            <a:pPr>
              <a:spcAft>
                <a:spcPts val="600"/>
              </a:spcAft>
              <a:buFont typeface="Wingdings" panose="05000000000000000000" pitchFamily="2" charset="2"/>
              <a:buChar char="q"/>
            </a:pPr>
            <a:r>
              <a:rPr lang="en-IN" sz="1800" dirty="0">
                <a:latin typeface="Times New Roman" panose="02020603050405020304" pitchFamily="18" charset="0"/>
                <a:ea typeface="Calibri" panose="020F0502020204030204" pitchFamily="34" charset="0"/>
                <a:cs typeface="Calibri" panose="020F0502020204030204" pitchFamily="34" charset="0"/>
              </a:rPr>
              <a:t>P</a:t>
            </a:r>
            <a:r>
              <a:rPr lang="en-IN" sz="1800" dirty="0">
                <a:effectLst/>
                <a:latin typeface="Times New Roman" panose="02020603050405020304" pitchFamily="18" charset="0"/>
                <a:ea typeface="Calibri" panose="020F0502020204030204" pitchFamily="34" charset="0"/>
                <a:cs typeface="Calibri" panose="020F0502020204030204" pitchFamily="34" charset="0"/>
              </a:rPr>
              <a:t>rint the entire play area </a:t>
            </a:r>
            <a:r>
              <a:rPr lang="en-IN" sz="1800" dirty="0" err="1">
                <a:effectLst/>
                <a:latin typeface="Times New Roman" panose="02020603050405020304" pitchFamily="18" charset="0"/>
                <a:ea typeface="Calibri" panose="020F0502020204030204" pitchFamily="34" charset="0"/>
                <a:cs typeface="Calibri" panose="020F0502020204030204" pitchFamily="34" charset="0"/>
              </a:rPr>
              <a:t>i.e</a:t>
            </a:r>
            <a:r>
              <a:rPr lang="en-IN" sz="1800" dirty="0">
                <a:effectLst/>
                <a:latin typeface="Times New Roman" panose="02020603050405020304" pitchFamily="18" charset="0"/>
                <a:ea typeface="Calibri" panose="020F0502020204030204" pitchFamily="34" charset="0"/>
                <a:cs typeface="Calibri" panose="020F0502020204030204" pitchFamily="34" charset="0"/>
              </a:rPr>
              <a:t> a rectangle using nested loop, the outer loop is responsible for the number of rows and the inner row is responsible for the number of columns.</a:t>
            </a:r>
            <a:endParaRPr lang="en-IN" sz="1800" dirty="0">
              <a:latin typeface="Calibri" panose="020F0502020204030204" pitchFamily="34" charset="0"/>
              <a:ea typeface="Calibri" panose="020F0502020204030204" pitchFamily="34" charset="0"/>
              <a:cs typeface="Calibri" panose="020F0502020204030204" pitchFamily="34" charset="0"/>
            </a:endParaRPr>
          </a:p>
          <a:p>
            <a:pPr>
              <a:spcAft>
                <a:spcPts val="600"/>
              </a:spcAft>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cs typeface="Calibri" panose="020F0502020204030204" pitchFamily="34" charset="0"/>
              </a:rPr>
              <a:t> Inside the nested loop several conditions are given, according to which</a:t>
            </a:r>
            <a:r>
              <a:rPr lang="en-IN" sz="1800" dirty="0">
                <a:latin typeface="Calibri" panose="020F0502020204030204" pitchFamily="34" charset="0"/>
                <a:ea typeface="Calibri" panose="020F0502020204030204" pitchFamily="34" charset="0"/>
                <a:cs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the snake's head, snake's tail, fruit, boundary wall and empty spaces will be printed</a:t>
            </a:r>
            <a:endParaRPr lang="en-IN" dirty="0"/>
          </a:p>
        </p:txBody>
      </p:sp>
      <p:sp>
        <p:nvSpPr>
          <p:cNvPr id="5" name="Rectangle 4">
            <a:extLst>
              <a:ext uri="{FF2B5EF4-FFF2-40B4-BE49-F238E27FC236}">
                <a16:creationId xmlns:a16="http://schemas.microsoft.com/office/drawing/2014/main" id="{A466D0F6-EF76-4D5C-AA59-C6C7E6E30530}"/>
              </a:ext>
            </a:extLst>
          </p:cNvPr>
          <p:cNvSpPr/>
          <p:nvPr/>
        </p:nvSpPr>
        <p:spPr>
          <a:xfrm>
            <a:off x="4926807" y="996951"/>
            <a:ext cx="6684962" cy="4873624"/>
          </a:xfrm>
          <a:prstGeom prst="rect">
            <a:avLst/>
          </a:prstGeom>
          <a:solidFill>
            <a:schemeClr val="bg2"/>
          </a:solidFill>
          <a:ln>
            <a:solidFill>
              <a:srgbClr val="0070C0"/>
            </a:solidFill>
          </a:ln>
        </p:spPr>
        <p:style>
          <a:lnRef idx="1">
            <a:schemeClr val="accent6"/>
          </a:lnRef>
          <a:fillRef idx="2">
            <a:schemeClr val="accent6"/>
          </a:fillRef>
          <a:effectRef idx="1">
            <a:schemeClr val="accent6"/>
          </a:effectRef>
          <a:fontRef idx="minor">
            <a:schemeClr val="dk1"/>
          </a:fontRef>
        </p:style>
        <p:txBody>
          <a:bodyPr rtlCol="0" anchor="ctr"/>
          <a:lstStyle/>
          <a:p>
            <a:pPr marL="285750" marR="0" lvl="0" indent="-28575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Initialize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 and j to use in the nested for loop.</a:t>
            </a:r>
            <a:endPar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Clear the screen using </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system("</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cls</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Print the entire play area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i.e</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 a rectangle using nested loop, the outer loop is responsible for the number of rows and the inner row is responsible for the number of columns.</a:t>
            </a:r>
            <a:endPar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Calibri" panose="020F0502020204030204" pitchFamily="34" charset="0"/>
              </a:rPr>
              <a:t> Inside the nested loop several conditions are given, according to which</a:t>
            </a:r>
            <a:r>
              <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the snake's head, snake's tail, fruit, boundary wall and empty spaces will be printed.</a:t>
            </a:r>
          </a:p>
          <a:p>
            <a:pPr marL="228600" marR="0" lvl="0" indent="-228600" algn="l" defTabSz="914400" rtl="0" eaLnBrk="1" fontAlgn="auto" latinLnBrk="0" hangingPunct="1">
              <a:lnSpc>
                <a:spcPct val="90000"/>
              </a:lnSpc>
              <a:spcBef>
                <a:spcPts val="1000"/>
              </a:spcBef>
              <a:spcAft>
                <a:spcPts val="60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New line is printed.</a:t>
            </a:r>
          </a:p>
          <a:p>
            <a:pPr marR="0" lvl="0" algn="l" defTabSz="914400" rtl="0" eaLnBrk="1" fontAlgn="auto" latinLnBrk="0" hangingPunct="1">
              <a:lnSpc>
                <a:spcPct val="90000"/>
              </a:lnSpc>
              <a:spcBef>
                <a:spcPts val="1000"/>
              </a:spcBef>
              <a:spcAft>
                <a:spcPts val="600"/>
              </a:spcAft>
              <a:buClrTx/>
              <a:buSzTx/>
              <a:tabLst/>
              <a:defRPr/>
            </a:pP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843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0E21-5351-4666-AD36-190BF0595BB2}"/>
              </a:ext>
            </a:extLst>
          </p:cNvPr>
          <p:cNvSpPr>
            <a:spLocks noGrp="1"/>
          </p:cNvSpPr>
          <p:nvPr>
            <p:ph type="title"/>
          </p:nvPr>
        </p:nvSpPr>
        <p:spPr>
          <a:xfrm>
            <a:off x="1211264" y="2890838"/>
            <a:ext cx="2284412" cy="538162"/>
          </a:xfrm>
        </p:spPr>
        <p:txBody>
          <a:bodyPr/>
          <a:lstStyle/>
          <a:p>
            <a:r>
              <a:rPr lang="en-US" i="1" dirty="0">
                <a:solidFill>
                  <a:schemeClr val="bg1"/>
                </a:solidFill>
                <a:latin typeface="Berlin Sans FB Demi" panose="020E0802020502020306" pitchFamily="34" charset="0"/>
              </a:rPr>
              <a:t>input( )</a:t>
            </a:r>
            <a:endParaRPr lang="en-IN" i="1"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83A75DAE-6681-4DBD-A2CE-5980A44A1A25}"/>
              </a:ext>
            </a:extLst>
          </p:cNvPr>
          <p:cNvSpPr>
            <a:spLocks noGrp="1"/>
          </p:cNvSpPr>
          <p:nvPr>
            <p:ph idx="1"/>
          </p:nvPr>
        </p:nvSpPr>
        <p:spPr>
          <a:xfrm>
            <a:off x="5183188" y="987425"/>
            <a:ext cx="6172200" cy="3775075"/>
          </a:xfrm>
        </p:spPr>
        <p:txBody>
          <a:bodyPr>
            <a:noAutofit/>
          </a:bodyPr>
          <a:lstStyle/>
          <a:p>
            <a:endParaRPr lang="en-US" sz="1800" dirty="0"/>
          </a:p>
          <a:p>
            <a:pPr>
              <a:buFont typeface="Wingdings" panose="05000000000000000000" pitchFamily="2" charset="2"/>
              <a:buChar char="q"/>
            </a:pPr>
            <a:endParaRPr lang="en-US" sz="1800" dirty="0"/>
          </a:p>
          <a:p>
            <a:pPr>
              <a:buFont typeface="Wingdings" panose="05000000000000000000" pitchFamily="2" charset="2"/>
              <a:buChar char="q"/>
            </a:pPr>
            <a:r>
              <a:rPr lang="en-US" sz="1800" dirty="0"/>
              <a:t>Create an 'if' conditional </a:t>
            </a:r>
            <a:r>
              <a:rPr lang="en-US" sz="1800" dirty="0" err="1"/>
              <a:t>statement,use</a:t>
            </a:r>
            <a:r>
              <a:rPr lang="en-US" sz="1800" dirty="0"/>
              <a:t> the keyboard hit function to check for user input from the keyboard. If a key is pressed, </a:t>
            </a:r>
            <a:r>
              <a:rPr lang="en-US" sz="1800" dirty="0" err="1"/>
              <a:t>kbhit</a:t>
            </a:r>
            <a:r>
              <a:rPr lang="en-US" sz="1800" dirty="0"/>
              <a:t>() returns true value, else returns false.​</a:t>
            </a:r>
          </a:p>
          <a:p>
            <a:pPr>
              <a:buFont typeface="Wingdings" panose="05000000000000000000" pitchFamily="2" charset="2"/>
              <a:buChar char="q"/>
            </a:pPr>
            <a:r>
              <a:rPr lang="en-US" sz="1800" dirty="0"/>
              <a:t>Switch case used to convert the value from the </a:t>
            </a:r>
            <a:r>
              <a:rPr lang="en-US" sz="1800" dirty="0" err="1"/>
              <a:t>getch</a:t>
            </a:r>
            <a:r>
              <a:rPr lang="en-US" sz="1800" dirty="0"/>
              <a:t>() to a flag(a variable).​</a:t>
            </a:r>
          </a:p>
          <a:p>
            <a:pPr>
              <a:buFont typeface="Wingdings" panose="05000000000000000000" pitchFamily="2" charset="2"/>
              <a:buChar char="q"/>
            </a:pPr>
            <a:r>
              <a:rPr lang="en-US" sz="1800" dirty="0"/>
              <a:t>The following keys were used as input- 'w', 's', 'a', 'd’.​</a:t>
            </a:r>
          </a:p>
          <a:p>
            <a:pPr>
              <a:buFont typeface="Wingdings" panose="05000000000000000000" pitchFamily="2" charset="2"/>
              <a:buChar char="q"/>
            </a:pPr>
            <a:r>
              <a:rPr lang="en-US" sz="1800" dirty="0"/>
              <a:t>For last case, when 'x' is pressed, it will trigger game over event.​</a:t>
            </a:r>
            <a:endParaRPr lang="en-IN" sz="1800" dirty="0"/>
          </a:p>
        </p:txBody>
      </p:sp>
      <p:sp>
        <p:nvSpPr>
          <p:cNvPr id="5" name="Hexagon 4">
            <a:extLst>
              <a:ext uri="{FF2B5EF4-FFF2-40B4-BE49-F238E27FC236}">
                <a16:creationId xmlns:a16="http://schemas.microsoft.com/office/drawing/2014/main" id="{39434109-4BFE-4832-9367-5E62BBDBFA39}"/>
              </a:ext>
            </a:extLst>
          </p:cNvPr>
          <p:cNvSpPr/>
          <p:nvPr/>
        </p:nvSpPr>
        <p:spPr>
          <a:xfrm>
            <a:off x="3952875" y="504825"/>
            <a:ext cx="7686675" cy="5848350"/>
          </a:xfrm>
          <a:prstGeom prst="hexagon">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an 'if' conditional statement, use the keyboard hit function to check for user input from the keyboard. If a key is pressed,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kbhit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returns true value, else returns false.​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Switch case used to convert the value from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getch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a flag(a variable).​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following keys were used as input- 'w', 's', 'a', 'd’.​</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lang="en-US" b="0" i="0" u="none" strike="noStrike" dirty="0">
                <a:solidFill>
                  <a:schemeClr val="tx1"/>
                </a:solidFill>
                <a:effectLst/>
                <a:latin typeface="Times New Roman" panose="02020603050405020304" pitchFamily="18" charset="0"/>
                <a:cs typeface="Times New Roman" panose="02020603050405020304" pitchFamily="18" charset="0"/>
              </a:rPr>
              <a:t>For case 'a', 1 is stored in flag, </a:t>
            </a:r>
            <a:r>
              <a:rPr lang="en-US" b="0" i="0" dirty="0">
                <a:solidFill>
                  <a:schemeClr val="tx1"/>
                </a:solidFill>
                <a:effectLst/>
                <a:latin typeface="Times New Roman" panose="02020603050405020304" pitchFamily="18" charset="0"/>
                <a:cs typeface="Times New Roman" panose="02020603050405020304" pitchFamily="18" charset="0"/>
              </a:rPr>
              <a:t>​</a:t>
            </a:r>
          </a:p>
          <a:p>
            <a:pPr algn="l" rtl="0" fontAlgn="base"/>
            <a:r>
              <a:rPr lang="en-US" b="0" i="0" u="none" strike="noStrike" dirty="0">
                <a:solidFill>
                  <a:schemeClr val="tx1"/>
                </a:solidFill>
                <a:effectLst/>
                <a:latin typeface="Times New Roman" panose="02020603050405020304" pitchFamily="18" charset="0"/>
                <a:cs typeface="Times New Roman" panose="02020603050405020304" pitchFamily="18" charset="0"/>
              </a:rPr>
              <a:t>    For case 'd', 2 is stored in flag,</a:t>
            </a:r>
            <a:r>
              <a:rPr lang="en-US" b="0" i="0" dirty="0">
                <a:solidFill>
                  <a:schemeClr val="tx1"/>
                </a:solidFill>
                <a:effectLst/>
                <a:latin typeface="Times New Roman" panose="02020603050405020304" pitchFamily="18" charset="0"/>
                <a:cs typeface="Times New Roman" panose="02020603050405020304" pitchFamily="18" charset="0"/>
              </a:rPr>
              <a:t>​</a:t>
            </a:r>
          </a:p>
          <a:p>
            <a:pPr algn="l" rtl="0" fontAlgn="base"/>
            <a:r>
              <a:rPr lang="en-US" b="0" i="0" u="none" strike="noStrike" dirty="0">
                <a:solidFill>
                  <a:schemeClr val="tx1"/>
                </a:solidFill>
                <a:effectLst/>
                <a:latin typeface="Times New Roman" panose="02020603050405020304" pitchFamily="18" charset="0"/>
                <a:cs typeface="Times New Roman" panose="02020603050405020304" pitchFamily="18" charset="0"/>
              </a:rPr>
              <a:t>    For case 'w', 3 is stored in flag,</a:t>
            </a:r>
            <a:r>
              <a:rPr lang="en-US" b="0" i="0" dirty="0">
                <a:solidFill>
                  <a:schemeClr val="tx1"/>
                </a:solidFill>
                <a:effectLst/>
                <a:latin typeface="Times New Roman" panose="02020603050405020304" pitchFamily="18" charset="0"/>
                <a:cs typeface="Times New Roman" panose="02020603050405020304" pitchFamily="18" charset="0"/>
              </a:rPr>
              <a:t>​</a:t>
            </a:r>
          </a:p>
          <a:p>
            <a:pPr algn="l" rtl="0" fontAlgn="base"/>
            <a:r>
              <a:rPr lang="en-US" b="0" i="0" u="none" strike="noStrike" dirty="0">
                <a:solidFill>
                  <a:schemeClr val="tx1"/>
                </a:solidFill>
                <a:effectLst/>
                <a:latin typeface="Times New Roman" panose="02020603050405020304" pitchFamily="18" charset="0"/>
                <a:cs typeface="Times New Roman" panose="02020603050405020304" pitchFamily="18" charset="0"/>
              </a:rPr>
              <a:t>    For case 's', 4 is stored in flag</a:t>
            </a:r>
            <a:r>
              <a:rPr lang="en-US" dirty="0">
                <a:solidFill>
                  <a:schemeClr val="tx1"/>
                </a:solidFill>
                <a:latin typeface="Times New Roman" panose="02020603050405020304" pitchFamily="18" charset="0"/>
                <a:cs typeface="Times New Roman" panose="02020603050405020304" pitchFamily="18" charset="0"/>
              </a:rPr>
              <a:t>.</a:t>
            </a:r>
          </a:p>
          <a:p>
            <a:pPr marL="285750" indent="-285750" algn="l" rtl="0" fontAlgn="base">
              <a:buFont typeface="Wingdings" panose="05000000000000000000" pitchFamily="2" charset="2"/>
              <a:buChar char="q"/>
            </a:pPr>
            <a:endPar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85750" indent="-285750" algn="l" rtl="0" fontAlgn="base">
              <a:buFont typeface="Wingdings" panose="05000000000000000000" pitchFamily="2" charset="2"/>
              <a:buChar char="q"/>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last case, when 'x' is pressed, it will trigger game over event.​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2455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F670-CF12-43B5-80A3-23A7F7132483}"/>
              </a:ext>
            </a:extLst>
          </p:cNvPr>
          <p:cNvSpPr>
            <a:spLocks noGrp="1"/>
          </p:cNvSpPr>
          <p:nvPr>
            <p:ph type="title"/>
          </p:nvPr>
        </p:nvSpPr>
        <p:spPr>
          <a:xfrm>
            <a:off x="902495" y="2641600"/>
            <a:ext cx="2074862" cy="928687"/>
          </a:xfrm>
        </p:spPr>
        <p:txBody>
          <a:bodyPr/>
          <a:lstStyle/>
          <a:p>
            <a:r>
              <a:rPr lang="en-US" i="1" dirty="0">
                <a:solidFill>
                  <a:schemeClr val="bg1"/>
                </a:solidFill>
                <a:latin typeface="Berlin Sans FB Demi" panose="020E0802020502020306" pitchFamily="34" charset="0"/>
              </a:rPr>
              <a:t>logic( )</a:t>
            </a:r>
            <a:endParaRPr lang="en-IN" i="1"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FD1C829B-0FB7-4843-9F51-8AFB9F24A94B}"/>
              </a:ext>
            </a:extLst>
          </p:cNvPr>
          <p:cNvSpPr>
            <a:spLocks noGrp="1"/>
          </p:cNvSpPr>
          <p:nvPr>
            <p:ph idx="1"/>
          </p:nvPr>
        </p:nvSpPr>
        <p:spPr>
          <a:xfrm>
            <a:off x="4648200" y="968375"/>
            <a:ext cx="6172200" cy="5203825"/>
          </a:xfrm>
        </p:spPr>
        <p:txBody>
          <a:bodyPr>
            <a:normAutofit/>
          </a:bodyPr>
          <a:lstStyle/>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Implement an algorithm to update the coordinates of the snake’s tail.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Whenever a snake moves, its head </a:t>
            </a:r>
            <a:r>
              <a:rPr lang="en-IN" sz="1800" dirty="0">
                <a:effectLst/>
                <a:latin typeface="Times New Roman" panose="02020603050405020304" pitchFamily="18" charset="0"/>
                <a:ea typeface="Calibri" panose="020F0502020204030204" pitchFamily="34" charset="0"/>
              </a:rPr>
              <a:t>have new values and the first index of the tail array gets the coordinates of the previous head, now the first indexes in the tail array is updated with the previous 0th index, and so on</a:t>
            </a:r>
            <a:r>
              <a:rPr lang="en-US" sz="1800" dirty="0">
                <a:latin typeface="Times New Roman" panose="02020603050405020304" pitchFamily="18" charset="0"/>
                <a:ea typeface="Calibri" panose="020F0502020204030204" pitchFamily="34" charset="0"/>
                <a:cs typeface="Times New Roman" panose="02020603050405020304" pitchFamily="18" charset="0"/>
              </a:rPr>
              <a:t>.</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rPr>
              <a:t>U</a:t>
            </a:r>
            <a:r>
              <a:rPr lang="en-IN" sz="1800" dirty="0">
                <a:effectLst/>
                <a:latin typeface="Times New Roman" panose="02020603050405020304" pitchFamily="18" charset="0"/>
                <a:ea typeface="Calibri" panose="020F0502020204030204" pitchFamily="34" charset="0"/>
              </a:rPr>
              <a:t>se the </a:t>
            </a:r>
            <a:r>
              <a:rPr lang="en-IN" sz="1800" b="1" dirty="0">
                <a:effectLst/>
                <a:latin typeface="Times New Roman" panose="02020603050405020304" pitchFamily="18" charset="0"/>
                <a:ea typeface="Calibri" panose="020F0502020204030204" pitchFamily="34" charset="0"/>
              </a:rPr>
              <a:t>switch case</a:t>
            </a:r>
            <a:r>
              <a:rPr lang="en-IN" sz="1800" dirty="0">
                <a:effectLst/>
                <a:latin typeface="Times New Roman" panose="02020603050405020304" pitchFamily="18" charset="0"/>
                <a:ea typeface="Calibri" panose="020F0502020204030204" pitchFamily="34" charset="0"/>
              </a:rPr>
              <a:t> statements in which we take flag and the snake moves accordingly to the given flag value.</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rPr>
              <a:t>specify the conditions to end the game or change the value of '</a:t>
            </a:r>
            <a:r>
              <a:rPr lang="en-IN" sz="1800" dirty="0" err="1">
                <a:effectLst/>
                <a:latin typeface="Times New Roman" panose="02020603050405020304" pitchFamily="18" charset="0"/>
                <a:ea typeface="Calibri" panose="020F0502020204030204" pitchFamily="34" charset="0"/>
              </a:rPr>
              <a:t>gameover</a:t>
            </a:r>
            <a:r>
              <a:rPr lang="en-IN" sz="1800" dirty="0">
                <a:effectLst/>
                <a:latin typeface="Times New Roman" panose="02020603050405020304" pitchFamily="18" charset="0"/>
                <a:ea typeface="Calibri" panose="020F0502020204030204" pitchFamily="34" charset="0"/>
              </a:rPr>
              <a:t>' to 1 which will end the game loop in main.</a:t>
            </a:r>
          </a:p>
          <a:p>
            <a:pPr>
              <a:buFont typeface="Wingdings" panose="05000000000000000000" pitchFamily="2" charset="2"/>
              <a:buChar char="q"/>
            </a:pPr>
            <a:r>
              <a:rPr lang="en-IN" sz="1800" dirty="0">
                <a:effectLst/>
                <a:latin typeface="Times New Roman" panose="02020603050405020304" pitchFamily="18" charset="0"/>
                <a:ea typeface="Calibri" panose="020F0502020204030204" pitchFamily="34" charset="0"/>
              </a:rPr>
              <a:t>The first condition is if the snake's head touches the boundary wall and the second condition is if the snake's head has hit the snake's tail.</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rPr>
              <a:t>I</a:t>
            </a:r>
            <a:r>
              <a:rPr lang="en-IN" sz="1800" dirty="0">
                <a:effectLst/>
                <a:latin typeface="Times New Roman" panose="02020603050405020304" pitchFamily="18" charset="0"/>
                <a:ea typeface="Calibri" panose="020F0502020204030204" pitchFamily="34" charset="0"/>
              </a:rPr>
              <a:t>f a fruit is found, new randomized coordinates of the fruit </a:t>
            </a:r>
            <a:r>
              <a:rPr lang="en-IN" sz="1800" dirty="0">
                <a:latin typeface="Times New Roman" panose="02020603050405020304" pitchFamily="18" charset="0"/>
                <a:ea typeface="Calibri" panose="020F0502020204030204" pitchFamily="34" charset="0"/>
              </a:rPr>
              <a:t>generates.</a:t>
            </a:r>
          </a:p>
          <a:p>
            <a:pPr>
              <a:buFont typeface="Wingdings" panose="05000000000000000000" pitchFamily="2" charset="2"/>
              <a:buChar char="q"/>
            </a:pPr>
            <a:r>
              <a:rPr lang="en-IN" sz="1800" dirty="0">
                <a:latin typeface="Times New Roman" panose="02020603050405020304" pitchFamily="18" charset="0"/>
                <a:ea typeface="Calibri" panose="020F0502020204030204" pitchFamily="34" charset="0"/>
              </a:rPr>
              <a:t>S</a:t>
            </a:r>
            <a:r>
              <a:rPr lang="en-IN" sz="1800" dirty="0">
                <a:effectLst/>
                <a:latin typeface="Times New Roman" panose="02020603050405020304" pitchFamily="18" charset="0"/>
                <a:ea typeface="Calibri" panose="020F0502020204030204" pitchFamily="34" charset="0"/>
              </a:rPr>
              <a:t>core increased by 10 points and length of the snake is also increased by 1.</a:t>
            </a:r>
            <a:endParaRPr lang="en-IN" sz="18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543BB826-7DB0-4209-B107-657104A94551}"/>
              </a:ext>
            </a:extLst>
          </p:cNvPr>
          <p:cNvSpPr/>
          <p:nvPr/>
        </p:nvSpPr>
        <p:spPr>
          <a:xfrm>
            <a:off x="3381375" y="133352"/>
            <a:ext cx="8370889" cy="660082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Implement an algorithm to update the coordinates of the snake’s tail.</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Whenever a snake moves, its head </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have new values and the first index of the tail array gets the coordinates of the previous head, now the first indexes in the tail array is updated with the previous 0th index, and so on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Use the </a:t>
            </a: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switch case</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statements in which we take flag and the snake moves accordingly to the given flag value.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specify the conditions to end the game or change the value of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gameover</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to 1 which will end the game loop in main.</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The first condition is if the snake's head touches the boundary wall and the second condition is if the snake's head has hit the snake's tail.</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If a fruit is found, new randomized coordinates of the fruit generates.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Score increased by 10 points and length of the snake is also increased by 1.</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57330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93DDAB-7579-4C5E-B02D-FFEA0E9B3400}"/>
              </a:ext>
            </a:extLst>
          </p:cNvPr>
          <p:cNvSpPr>
            <a:spLocks noGrp="1"/>
          </p:cNvSpPr>
          <p:nvPr>
            <p:ph type="title"/>
          </p:nvPr>
        </p:nvSpPr>
        <p:spPr/>
        <p:txBody>
          <a:bodyPr>
            <a:normAutofit/>
          </a:bodyPr>
          <a:lstStyle/>
          <a:p>
            <a:r>
              <a:rPr lang="en-US" sz="3200" b="1" i="1" u="sng" dirty="0">
                <a:latin typeface="Berlin Sans FB Demi" panose="020E0802020502020306" pitchFamily="34" charset="0"/>
              </a:rPr>
              <a:t>OUTCOME</a:t>
            </a:r>
            <a:endParaRPr lang="en-IN" sz="3200" b="1" i="1" u="sng" dirty="0">
              <a:latin typeface="Berlin Sans FB Demi" panose="020E0802020502020306" pitchFamily="34" charset="0"/>
            </a:endParaRPr>
          </a:p>
        </p:txBody>
      </p:sp>
      <p:sp>
        <p:nvSpPr>
          <p:cNvPr id="9" name="Text Placeholder 8">
            <a:extLst>
              <a:ext uri="{FF2B5EF4-FFF2-40B4-BE49-F238E27FC236}">
                <a16:creationId xmlns:a16="http://schemas.microsoft.com/office/drawing/2014/main" id="{263C6F03-017B-4FE8-9ED8-E59473B97B77}"/>
              </a:ext>
            </a:extLst>
          </p:cNvPr>
          <p:cNvSpPr>
            <a:spLocks noGrp="1"/>
          </p:cNvSpPr>
          <p:nvPr>
            <p:ph type="body" idx="1"/>
          </p:nvPr>
        </p:nvSpPr>
        <p:spPr>
          <a:xfrm>
            <a:off x="456923" y="5365751"/>
            <a:ext cx="5157787" cy="823912"/>
          </a:xfrm>
        </p:spPr>
        <p:txBody>
          <a:bodyPr/>
          <a:lstStyle/>
          <a:p>
            <a:r>
              <a:rPr lang="en-IN" sz="1800" b="1" i="1" dirty="0">
                <a:effectLst/>
                <a:latin typeface="Times New Roman" panose="02020603050405020304" pitchFamily="18" charset="0"/>
                <a:ea typeface="Calibri" panose="020F0502020204030204" pitchFamily="34" charset="0"/>
              </a:rPr>
              <a:t>Start game (score 0)</a:t>
            </a:r>
            <a:endParaRPr lang="en-IN" dirty="0"/>
          </a:p>
        </p:txBody>
      </p:sp>
      <p:pic>
        <p:nvPicPr>
          <p:cNvPr id="7" name="Content Placeholder 6">
            <a:extLst>
              <a:ext uri="{FF2B5EF4-FFF2-40B4-BE49-F238E27FC236}">
                <a16:creationId xmlns:a16="http://schemas.microsoft.com/office/drawing/2014/main" id="{74EA0A61-D8CA-45C6-BC44-7E572003D307}"/>
              </a:ext>
            </a:extLst>
          </p:cNvPr>
          <p:cNvPicPr>
            <a:picLocks noGrp="1"/>
          </p:cNvPicPr>
          <p:nvPr>
            <p:ph sz="half" idx="2"/>
          </p:nvPr>
        </p:nvPicPr>
        <p:blipFill>
          <a:blip r:embed="rId2"/>
          <a:stretch>
            <a:fillRect/>
          </a:stretch>
        </p:blipFill>
        <p:spPr bwMode="auto">
          <a:xfrm>
            <a:off x="456923" y="1586706"/>
            <a:ext cx="5142466" cy="3684588"/>
          </a:xfrm>
          <a:prstGeom prst="rect">
            <a:avLst/>
          </a:prstGeom>
        </p:spPr>
      </p:pic>
      <p:sp>
        <p:nvSpPr>
          <p:cNvPr id="10" name="Text Placeholder 9">
            <a:extLst>
              <a:ext uri="{FF2B5EF4-FFF2-40B4-BE49-F238E27FC236}">
                <a16:creationId xmlns:a16="http://schemas.microsoft.com/office/drawing/2014/main" id="{0E2241CD-12B8-4D85-8678-ACB2D354811A}"/>
              </a:ext>
            </a:extLst>
          </p:cNvPr>
          <p:cNvSpPr>
            <a:spLocks noGrp="1"/>
          </p:cNvSpPr>
          <p:nvPr>
            <p:ph type="body" sz="quarter" idx="3"/>
          </p:nvPr>
        </p:nvSpPr>
        <p:spPr>
          <a:xfrm>
            <a:off x="6172200" y="5365751"/>
            <a:ext cx="5183188" cy="823912"/>
          </a:xfrm>
        </p:spPr>
        <p:txBody>
          <a:bodyPr/>
          <a:lstStyle/>
          <a:p>
            <a:r>
              <a:rPr lang="en-IN" sz="1800" b="1" i="1" dirty="0">
                <a:effectLst/>
                <a:latin typeface="Times New Roman" panose="02020603050405020304" pitchFamily="18" charset="0"/>
                <a:ea typeface="Calibri" panose="020F0502020204030204" pitchFamily="34" charset="0"/>
              </a:rPr>
              <a:t>Game over (wall hit/body hit)</a:t>
            </a:r>
            <a:endParaRPr lang="en-IN" dirty="0"/>
          </a:p>
        </p:txBody>
      </p:sp>
      <p:pic>
        <p:nvPicPr>
          <p:cNvPr id="8" name="Content Placeholder 7">
            <a:extLst>
              <a:ext uri="{FF2B5EF4-FFF2-40B4-BE49-F238E27FC236}">
                <a16:creationId xmlns:a16="http://schemas.microsoft.com/office/drawing/2014/main" id="{ECBDB3C2-48E2-4584-B5E9-A78683FE5536}"/>
              </a:ext>
            </a:extLst>
          </p:cNvPr>
          <p:cNvPicPr>
            <a:picLocks noGrp="1"/>
          </p:cNvPicPr>
          <p:nvPr>
            <p:ph sz="quarter" idx="4"/>
          </p:nvPr>
        </p:nvPicPr>
        <p:blipFill>
          <a:blip r:embed="rId3"/>
          <a:stretch>
            <a:fillRect/>
          </a:stretch>
        </p:blipFill>
        <p:spPr bwMode="auto">
          <a:xfrm>
            <a:off x="5982254" y="1458911"/>
            <a:ext cx="5369958" cy="3684588"/>
          </a:xfrm>
          <a:prstGeom prst="rect">
            <a:avLst/>
          </a:prstGeom>
        </p:spPr>
      </p:pic>
    </p:spTree>
    <p:extLst>
      <p:ext uri="{BB962C8B-B14F-4D97-AF65-F5344CB8AC3E}">
        <p14:creationId xmlns:p14="http://schemas.microsoft.com/office/powerpoint/2010/main" val="4272447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4BDC0-C63B-4287-BB36-9C4AA67AA16A}"/>
              </a:ext>
            </a:extLst>
          </p:cNvPr>
          <p:cNvSpPr>
            <a:spLocks noGrp="1"/>
          </p:cNvSpPr>
          <p:nvPr>
            <p:ph type="title"/>
          </p:nvPr>
        </p:nvSpPr>
        <p:spPr/>
        <p:txBody>
          <a:bodyPr>
            <a:normAutofit/>
          </a:bodyPr>
          <a:lstStyle/>
          <a:p>
            <a:r>
              <a:rPr lang="en-US" sz="3200" b="1" i="1" u="sng" dirty="0">
                <a:solidFill>
                  <a:schemeClr val="bg1"/>
                </a:solidFill>
                <a:latin typeface="Berlin Sans FB Demi" panose="020E0802020502020306" pitchFamily="34" charset="0"/>
              </a:rPr>
              <a:t>CONCLUSION</a:t>
            </a:r>
            <a:endParaRPr lang="en-IN" sz="3200" b="1" i="1" u="sng" dirty="0">
              <a:solidFill>
                <a:schemeClr val="bg1"/>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E1D59FF0-5331-4CA9-8D4C-B2A39EDFB2C2}"/>
              </a:ext>
            </a:extLst>
          </p:cNvPr>
          <p:cNvSpPr>
            <a:spLocks noGrp="1"/>
          </p:cNvSpPr>
          <p:nvPr>
            <p:ph idx="1"/>
          </p:nvPr>
        </p:nvSpPr>
        <p:spPr/>
        <p:txBody>
          <a:bodyPr>
            <a:normAutofit fontScale="25000" lnSpcReduction="20000"/>
          </a:bodyPr>
          <a:lstStyle/>
          <a:p>
            <a:pPr marL="0" indent="0">
              <a:buNone/>
            </a:pPr>
            <a:endParaRPr lang="en-US" dirty="0"/>
          </a:p>
          <a:p>
            <a:pPr marL="0" indent="0">
              <a:buNone/>
            </a:pPr>
            <a:endParaRPr lang="en-US" sz="7200" dirty="0">
              <a:latin typeface="Times New Roman" panose="02020603050405020304" pitchFamily="18" charset="0"/>
              <a:cs typeface="Times New Roman" panose="02020603050405020304" pitchFamily="18" charset="0"/>
            </a:endParaRPr>
          </a:p>
          <a:p>
            <a:pPr marL="0" indent="0">
              <a:buNone/>
            </a:pPr>
            <a:r>
              <a:rPr lang="en-US" sz="7200" b="1" dirty="0">
                <a:latin typeface="Times New Roman" panose="02020603050405020304" pitchFamily="18" charset="0"/>
                <a:cs typeface="Times New Roman" panose="02020603050405020304" pitchFamily="18" charset="0"/>
              </a:rPr>
              <a:t>Through this project we have learnt to implement the C programming language​ concepts and data structures </a:t>
            </a:r>
          </a:p>
          <a:p>
            <a:pPr marL="0" indent="0">
              <a:buNone/>
            </a:pPr>
            <a:r>
              <a:rPr lang="en-US" sz="7200" b="1" dirty="0">
                <a:latin typeface="Times New Roman" panose="02020603050405020304" pitchFamily="18" charset="0"/>
                <a:cs typeface="Times New Roman" panose="02020603050405020304" pitchFamily="18" charset="0"/>
              </a:rPr>
              <a:t>and create a full fledged game.​We have also  incorporated several concepts like nested loops, functional </a:t>
            </a:r>
          </a:p>
          <a:p>
            <a:pPr marL="0" indent="0">
              <a:buNone/>
            </a:pPr>
            <a:r>
              <a:rPr lang="en-US" sz="7200" b="1" dirty="0">
                <a:latin typeface="Times New Roman" panose="02020603050405020304" pitchFamily="18" charset="0"/>
                <a:cs typeface="Times New Roman" panose="02020603050405020304" pitchFamily="18" charset="0"/>
              </a:rPr>
              <a:t>programming, rand( ), </a:t>
            </a:r>
            <a:r>
              <a:rPr lang="en-US" sz="7200" b="1" dirty="0" err="1">
                <a:latin typeface="Times New Roman" panose="02020603050405020304" pitchFamily="18" charset="0"/>
                <a:cs typeface="Times New Roman" panose="02020603050405020304" pitchFamily="18" charset="0"/>
              </a:rPr>
              <a:t>getch</a:t>
            </a:r>
            <a:r>
              <a:rPr lang="en-US" sz="7200" b="1" dirty="0">
                <a:latin typeface="Times New Roman" panose="02020603050405020304" pitchFamily="18" charset="0"/>
                <a:cs typeface="Times New Roman" panose="02020603050405020304" pitchFamily="18" charset="0"/>
              </a:rPr>
              <a:t>( ) and </a:t>
            </a:r>
            <a:r>
              <a:rPr lang="en-US" sz="7200" b="1" dirty="0" err="1">
                <a:latin typeface="Times New Roman" panose="02020603050405020304" pitchFamily="18" charset="0"/>
                <a:cs typeface="Times New Roman" panose="02020603050405020304" pitchFamily="18" charset="0"/>
              </a:rPr>
              <a:t>kbhit</a:t>
            </a:r>
            <a:r>
              <a:rPr lang="en-US" sz="7200" b="1" dirty="0">
                <a:latin typeface="Times New Roman" panose="02020603050405020304" pitchFamily="18" charset="0"/>
                <a:cs typeface="Times New Roman" panose="02020603050405020304" pitchFamily="18" charset="0"/>
              </a:rPr>
              <a:t>( ) functions, </a:t>
            </a:r>
            <a:r>
              <a:rPr lang="en-US" sz="7200" b="1" dirty="0" err="1">
                <a:latin typeface="Times New Roman" panose="02020603050405020304" pitchFamily="18" charset="0"/>
                <a:cs typeface="Times New Roman" panose="02020603050405020304" pitchFamily="18" charset="0"/>
              </a:rPr>
              <a:t>goto</a:t>
            </a:r>
            <a:r>
              <a:rPr lang="en-US" sz="7200" b="1" dirty="0">
                <a:latin typeface="Times New Roman" panose="02020603050405020304" pitchFamily="18" charset="0"/>
                <a:cs typeface="Times New Roman" panose="02020603050405020304" pitchFamily="18" charset="0"/>
              </a:rPr>
              <a:t> statements, and several other things that we didn't get </a:t>
            </a:r>
          </a:p>
          <a:p>
            <a:pPr marL="0" indent="0">
              <a:buNone/>
            </a:pPr>
            <a:r>
              <a:rPr lang="en-US" sz="7200" b="1" dirty="0">
                <a:latin typeface="Times New Roman" panose="02020603050405020304" pitchFamily="18" charset="0"/>
                <a:cs typeface="Times New Roman" panose="02020603050405020304" pitchFamily="18" charset="0"/>
              </a:rPr>
              <a:t>a chance to implement and piece together to create a complete functional project. Other than programming skills </a:t>
            </a:r>
          </a:p>
          <a:p>
            <a:pPr marL="0" indent="0">
              <a:buNone/>
            </a:pPr>
            <a:r>
              <a:rPr lang="en-US" sz="7200" b="1" dirty="0">
                <a:latin typeface="Times New Roman" panose="02020603050405020304" pitchFamily="18" charset="0"/>
                <a:cs typeface="Times New Roman" panose="02020603050405020304" pitchFamily="18" charset="0"/>
              </a:rPr>
              <a:t>we also learned team work and cooperation, each of us contributed to the code and maintained the code on </a:t>
            </a:r>
          </a:p>
          <a:p>
            <a:pPr marL="0" indent="0">
              <a:buNone/>
            </a:pPr>
            <a:r>
              <a:rPr lang="en-US" sz="7200" b="1" dirty="0" err="1">
                <a:latin typeface="Times New Roman" panose="02020603050405020304" pitchFamily="18" charset="0"/>
                <a:cs typeface="Times New Roman" panose="02020603050405020304" pitchFamily="18" charset="0"/>
              </a:rPr>
              <a:t>github</a:t>
            </a:r>
            <a:r>
              <a:rPr lang="en-US" sz="7200" b="1" dirty="0">
                <a:latin typeface="Times New Roman" panose="02020603050405020304" pitchFamily="18" charset="0"/>
                <a:cs typeface="Times New Roman" panose="02020603050405020304" pitchFamily="18" charset="0"/>
              </a:rPr>
              <a:t>. We also tested the code vigorously so that we didn't turn a blind eye to any corner case. Hence due to </a:t>
            </a:r>
          </a:p>
          <a:p>
            <a:pPr marL="0" indent="0">
              <a:buNone/>
            </a:pPr>
            <a:r>
              <a:rPr lang="en-US" sz="7200" b="1" dirty="0">
                <a:latin typeface="Times New Roman" panose="02020603050405020304" pitchFamily="18" charset="0"/>
                <a:cs typeface="Times New Roman" panose="02020603050405020304" pitchFamily="18" charset="0"/>
              </a:rPr>
              <a:t>teamwork, cooperation, and consistent efforts from everybody we managed to complete this project successfully.​</a:t>
            </a:r>
          </a:p>
          <a:p>
            <a:endParaRPr lang="en-US" sz="7200" b="1" dirty="0">
              <a:latin typeface="Times New Roman" panose="02020603050405020304" pitchFamily="18" charset="0"/>
              <a:cs typeface="Times New Roman" panose="02020603050405020304" pitchFamily="18" charset="0"/>
            </a:endParaRPr>
          </a:p>
          <a:p>
            <a:pPr marL="0" indent="0">
              <a:buNone/>
            </a:pPr>
            <a:r>
              <a:rPr lang="en-US" dirty="0"/>
              <a:t>​</a:t>
            </a:r>
          </a:p>
          <a:p>
            <a:pPr marL="0" indent="0">
              <a:buNone/>
            </a:pPr>
            <a:r>
              <a:rPr lang="en-US" dirty="0"/>
              <a:t>​</a:t>
            </a:r>
          </a:p>
          <a:p>
            <a:pPr marL="0" indent="0">
              <a:buNone/>
            </a:pPr>
            <a:endParaRPr lang="en-US" dirty="0"/>
          </a:p>
          <a:p>
            <a:pPr marL="0" indent="0">
              <a:buNone/>
            </a:pPr>
            <a:r>
              <a:rPr lang="en-US" dirty="0"/>
              <a:t>​</a:t>
            </a:r>
          </a:p>
          <a:p>
            <a:pPr marL="0" indent="0">
              <a:buNone/>
            </a:pPr>
            <a:endParaRPr lang="en-US" dirty="0"/>
          </a:p>
          <a:p>
            <a:pPr marL="0" indent="0">
              <a:buNone/>
            </a:pPr>
            <a:r>
              <a:rPr lang="en-US" dirty="0"/>
              <a:t>​</a:t>
            </a:r>
            <a:endParaRPr lang="en-IN" dirty="0"/>
          </a:p>
        </p:txBody>
      </p:sp>
      <p:sp>
        <p:nvSpPr>
          <p:cNvPr id="5" name="Rectangle: Rounded Corners 4">
            <a:extLst>
              <a:ext uri="{FF2B5EF4-FFF2-40B4-BE49-F238E27FC236}">
                <a16:creationId xmlns:a16="http://schemas.microsoft.com/office/drawing/2014/main" id="{2D778FC8-0F8A-4FB0-8A0F-0701FD66999A}"/>
              </a:ext>
            </a:extLst>
          </p:cNvPr>
          <p:cNvSpPr/>
          <p:nvPr/>
        </p:nvSpPr>
        <p:spPr>
          <a:xfrm>
            <a:off x="600074" y="1690688"/>
            <a:ext cx="10753725" cy="480218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Through this project we have learnt to implement the C programming language​ concepts and data structures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and create a full fledged game.​We have also  incorporated several concepts like nested loops, functional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programming, rand( ), </a:t>
            </a:r>
            <a:r>
              <a:rPr kumimoji="0" lang="en-US" sz="180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getch</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and </a:t>
            </a:r>
            <a:r>
              <a:rPr kumimoji="0" lang="en-US" sz="180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kbhit</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functions, </a:t>
            </a:r>
            <a:r>
              <a:rPr kumimoji="0" lang="en-US" sz="180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goto</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statements, and several other things that we didn't get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chance to implement and piece together to create a complete functional project. Other than programming skills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 also learned team work and cooperation, each of us contributed to the code and maintained the code 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github</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We also tested the code vigorously so that we didn't turn a blind eye to any corner case. Hence due to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teamwork, cooperation, and consistent efforts from everybody we managed to complete this project successfully.​</a:t>
            </a:r>
          </a:p>
        </p:txBody>
      </p:sp>
    </p:spTree>
    <p:extLst>
      <p:ext uri="{BB962C8B-B14F-4D97-AF65-F5344CB8AC3E}">
        <p14:creationId xmlns:p14="http://schemas.microsoft.com/office/powerpoint/2010/main" val="1133777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CCE791-E2D8-45DF-92BF-E58221F40D2A}"/>
              </a:ext>
            </a:extLst>
          </p:cNvPr>
          <p:cNvSpPr>
            <a:spLocks noGrp="1"/>
          </p:cNvSpPr>
          <p:nvPr>
            <p:ph type="title"/>
          </p:nvPr>
        </p:nvSpPr>
        <p:spPr>
          <a:xfrm>
            <a:off x="17462" y="1101725"/>
            <a:ext cx="3932237" cy="606425"/>
          </a:xfrm>
        </p:spPr>
        <p:txBody>
          <a:bodyPr/>
          <a:lstStyle/>
          <a:p>
            <a:r>
              <a:rPr lang="en-US" i="1" u="sng" dirty="0">
                <a:latin typeface="Berlin Sans FB Demi" panose="020E0802020502020306" pitchFamily="34" charset="0"/>
              </a:rPr>
              <a:t>REFERENCES</a:t>
            </a:r>
            <a:endParaRPr lang="en-IN" i="1" u="sng" dirty="0">
              <a:latin typeface="Berlin Sans FB Demi" panose="020E0802020502020306" pitchFamily="34" charset="0"/>
            </a:endParaRPr>
          </a:p>
        </p:txBody>
      </p:sp>
      <p:sp>
        <p:nvSpPr>
          <p:cNvPr id="7" name="Text Placeholder 6">
            <a:extLst>
              <a:ext uri="{FF2B5EF4-FFF2-40B4-BE49-F238E27FC236}">
                <a16:creationId xmlns:a16="http://schemas.microsoft.com/office/drawing/2014/main" id="{61731409-9D4F-48DA-8AAC-03645BDDB900}"/>
              </a:ext>
            </a:extLst>
          </p:cNvPr>
          <p:cNvSpPr>
            <a:spLocks noGrp="1"/>
          </p:cNvSpPr>
          <p:nvPr>
            <p:ph type="body" sz="half" idx="2"/>
          </p:nvPr>
        </p:nvSpPr>
        <p:spPr>
          <a:xfrm>
            <a:off x="17462" y="2162175"/>
            <a:ext cx="3932237" cy="3811588"/>
          </a:xfrm>
        </p:spPr>
        <p:txBody>
          <a:bodyPr>
            <a:normAutofit/>
          </a:bodyPr>
          <a:lstStyle/>
          <a:p>
            <a:r>
              <a:rPr lang="en-US" sz="1800" dirty="0"/>
              <a:t>The following sources were referenced while making this project.​</a:t>
            </a:r>
          </a:p>
          <a:p>
            <a:endParaRPr lang="en-US" sz="1800" dirty="0"/>
          </a:p>
          <a:p>
            <a:r>
              <a:rPr lang="en-US" sz="1800" dirty="0">
                <a:hlinkClick r:id="rId3"/>
              </a:rPr>
              <a:t>https://www.geeksforgeeks.org/</a:t>
            </a:r>
            <a:endParaRPr lang="en-US" sz="1800" dirty="0"/>
          </a:p>
          <a:p>
            <a:r>
              <a:rPr lang="en-IN" sz="1800" dirty="0">
                <a:hlinkClick r:id="rId4"/>
              </a:rPr>
              <a:t>https://www.youtube.com/watch?v=ON5ODiA-AQE&amp;pp=sAQA</a:t>
            </a:r>
            <a:endParaRPr lang="en-IN" sz="1800" dirty="0"/>
          </a:p>
          <a:p>
            <a:endParaRPr lang="en-IN" sz="1800" dirty="0"/>
          </a:p>
        </p:txBody>
      </p:sp>
      <p:pic>
        <p:nvPicPr>
          <p:cNvPr id="1026" name="Picture 2" descr="See the source image">
            <a:extLst>
              <a:ext uri="{FF2B5EF4-FFF2-40B4-BE49-F238E27FC236}">
                <a16:creationId xmlns:a16="http://schemas.microsoft.com/office/drawing/2014/main" id="{680327FE-ADD5-4BF4-B1A8-7109119C078E}"/>
              </a:ext>
            </a:extLst>
          </p:cNvPr>
          <p:cNvPicPr>
            <a:picLocks noGrp="1" noChangeAspect="1" noChangeArrowheads="1"/>
          </p:cNvPicPr>
          <p:nvPr>
            <p:ph type="pic" idx="1"/>
          </p:nvPr>
        </p:nvPicPr>
        <p:blipFill>
          <a:blip r:embed="rId5">
            <a:extLst>
              <a:ext uri="{28A0092B-C50C-407E-A947-70E740481C1C}">
                <a14:useLocalDpi xmlns:a14="http://schemas.microsoft.com/office/drawing/2010/main" val="0"/>
              </a:ext>
            </a:extLst>
          </a:blip>
          <a:srcRect l="10081" r="10081"/>
          <a:stretch>
            <a:fillRect/>
          </a:stretch>
        </p:blipFill>
        <p:spPr bwMode="auto">
          <a:xfrm>
            <a:off x="3949700" y="0"/>
            <a:ext cx="82423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44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D025-5ECD-473C-A1E6-6FCDC31D6E34}"/>
              </a:ext>
            </a:extLst>
          </p:cNvPr>
          <p:cNvSpPr>
            <a:spLocks noGrp="1"/>
          </p:cNvSpPr>
          <p:nvPr>
            <p:ph type="ctrTitle"/>
          </p:nvPr>
        </p:nvSpPr>
        <p:spPr>
          <a:xfrm>
            <a:off x="2638425" y="931862"/>
            <a:ext cx="6534150" cy="3221037"/>
          </a:xfrm>
        </p:spPr>
        <p:txBody>
          <a:bodyPr>
            <a:normAutofit/>
          </a:bodyPr>
          <a:lstStyle/>
          <a:p>
            <a:r>
              <a:rPr lang="en-US" sz="3600" i="1" dirty="0">
                <a:latin typeface="Berlin Sans FB Demi" panose="020E0802020502020306" pitchFamily="34" charset="0"/>
              </a:rPr>
              <a:t>THANK YOU</a:t>
            </a:r>
            <a:br>
              <a:rPr lang="en-US" sz="3600" i="1" dirty="0">
                <a:latin typeface="Berlin Sans FB Demi" panose="020E0802020502020306" pitchFamily="34" charset="0"/>
              </a:rPr>
            </a:br>
            <a:br>
              <a:rPr lang="en-US" sz="3600" i="1" dirty="0">
                <a:latin typeface="Berlin Sans FB Demi" panose="020E0802020502020306" pitchFamily="34" charset="0"/>
              </a:rPr>
            </a:br>
            <a:r>
              <a:rPr lang="en-US" sz="3600" i="1" dirty="0">
                <a:latin typeface="Berlin Sans FB Demi" panose="020E0802020502020306" pitchFamily="34" charset="0"/>
              </a:rPr>
              <a:t>HAVE A NICE DAY</a:t>
            </a:r>
            <a:endParaRPr lang="en-IN" sz="3600" i="1" dirty="0">
              <a:latin typeface="Berlin Sans FB Demi" panose="020E0802020502020306" pitchFamily="34" charset="0"/>
            </a:endParaRPr>
          </a:p>
        </p:txBody>
      </p:sp>
      <p:sp>
        <p:nvSpPr>
          <p:cNvPr id="4" name="Oval 3">
            <a:extLst>
              <a:ext uri="{FF2B5EF4-FFF2-40B4-BE49-F238E27FC236}">
                <a16:creationId xmlns:a16="http://schemas.microsoft.com/office/drawing/2014/main" id="{ACD9C715-9A82-4392-9611-8B19943A6D52}"/>
              </a:ext>
            </a:extLst>
          </p:cNvPr>
          <p:cNvSpPr/>
          <p:nvPr/>
        </p:nvSpPr>
        <p:spPr>
          <a:xfrm>
            <a:off x="3595687" y="1142205"/>
            <a:ext cx="5133975" cy="39909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3600" b="0" i="1" u="none" strike="noStrike" kern="1200" cap="none" spc="0" normalizeH="0" baseline="0" noProof="0">
                <a:ln>
                  <a:noFill/>
                </a:ln>
                <a:solidFill>
                  <a:prstClr val="black"/>
                </a:solidFill>
                <a:effectLst/>
                <a:uLnTx/>
                <a:uFillTx/>
                <a:latin typeface="Berlin Sans FB Demi" panose="020E0802020502020306" pitchFamily="34" charset="0"/>
                <a:ea typeface="+mj-ea"/>
                <a:cs typeface="+mj-cs"/>
              </a:rPr>
              <a:t>THANK YOU</a:t>
            </a:r>
            <a:br>
              <a:rPr kumimoji="0" lang="en-US" sz="3600" b="0" i="1" u="none" strike="noStrike" kern="1200" cap="none" spc="0" normalizeH="0" baseline="0" noProof="0">
                <a:ln>
                  <a:noFill/>
                </a:ln>
                <a:solidFill>
                  <a:prstClr val="black"/>
                </a:solidFill>
                <a:effectLst/>
                <a:uLnTx/>
                <a:uFillTx/>
                <a:latin typeface="Berlin Sans FB Demi" panose="020E0802020502020306" pitchFamily="34" charset="0"/>
                <a:ea typeface="+mj-ea"/>
                <a:cs typeface="+mj-cs"/>
              </a:rPr>
            </a:br>
            <a:br>
              <a:rPr kumimoji="0" lang="en-US" sz="3600" b="0" i="1" u="none" strike="noStrike" kern="1200" cap="none" spc="0" normalizeH="0" baseline="0" noProof="0">
                <a:ln>
                  <a:noFill/>
                </a:ln>
                <a:solidFill>
                  <a:prstClr val="black"/>
                </a:solidFill>
                <a:effectLst/>
                <a:uLnTx/>
                <a:uFillTx/>
                <a:latin typeface="Berlin Sans FB Demi" panose="020E0802020502020306" pitchFamily="34" charset="0"/>
                <a:ea typeface="+mj-ea"/>
                <a:cs typeface="+mj-cs"/>
              </a:rPr>
            </a:br>
            <a:r>
              <a:rPr kumimoji="0" lang="en-US" sz="3600" b="0" i="1" u="none" strike="noStrike" kern="1200" cap="none" spc="0" normalizeH="0" baseline="0" noProof="0">
                <a:ln>
                  <a:noFill/>
                </a:ln>
                <a:solidFill>
                  <a:prstClr val="black"/>
                </a:solidFill>
                <a:effectLst/>
                <a:uLnTx/>
                <a:uFillTx/>
                <a:latin typeface="Berlin Sans FB Demi" panose="020E0802020502020306" pitchFamily="34" charset="0"/>
                <a:ea typeface="+mj-ea"/>
                <a:cs typeface="+mj-cs"/>
              </a:rPr>
              <a:t>HAVE A NICE DAY</a:t>
            </a:r>
            <a:endParaRPr lang="en-IN" dirty="0"/>
          </a:p>
        </p:txBody>
      </p:sp>
    </p:spTree>
    <p:extLst>
      <p:ext uri="{BB962C8B-B14F-4D97-AF65-F5344CB8AC3E}">
        <p14:creationId xmlns:p14="http://schemas.microsoft.com/office/powerpoint/2010/main" val="4094563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2139</Words>
  <Application>Microsoft Office PowerPoint</Application>
  <PresentationFormat>Widescreen</PresentationFormat>
  <Paragraphs>191</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Microsoft JhengHei</vt:lpstr>
      <vt:lpstr>Arial</vt:lpstr>
      <vt:lpstr>Berlin Sans FB Demi</vt:lpstr>
      <vt:lpstr>Calibri</vt:lpstr>
      <vt:lpstr>Calibri Light</vt:lpstr>
      <vt:lpstr>Forte</vt:lpstr>
      <vt:lpstr>Times New Roman</vt:lpstr>
      <vt:lpstr>Wingdings</vt:lpstr>
      <vt:lpstr>Office Theme</vt:lpstr>
      <vt:lpstr>SNAKE GAME</vt:lpstr>
      <vt:lpstr>ACKNOWLEDGEMENT</vt:lpstr>
      <vt:lpstr>PowerPoint Presentation</vt:lpstr>
      <vt:lpstr>OBJECTIVES</vt:lpstr>
      <vt:lpstr>INTRODUCTION</vt:lpstr>
      <vt:lpstr>FLOW DIAGRAM</vt:lpstr>
      <vt:lpstr>WORKING MECHANISM</vt:lpstr>
      <vt:lpstr>INITIALIZATION</vt:lpstr>
      <vt:lpstr>PowerPoint Presentation</vt:lpstr>
      <vt:lpstr>PowerPoint Presentation</vt:lpstr>
      <vt:lpstr>draw( )</vt:lpstr>
      <vt:lpstr>input( )</vt:lpstr>
      <vt:lpstr>logic( )</vt:lpstr>
      <vt:lpstr>OUTCOME</vt:lpstr>
      <vt:lpstr>CONCLUSION</vt:lpstr>
      <vt:lpstr>REFERENCES</vt:lpstr>
      <vt:lpstr>THANK YOU  HAVE A NICE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SNAKE GAME</dc:title>
  <dc:creator>tridha das</dc:creator>
  <cp:lastModifiedBy>tridha das</cp:lastModifiedBy>
  <cp:revision>2</cp:revision>
  <dcterms:created xsi:type="dcterms:W3CDTF">2021-08-03T19:33:36Z</dcterms:created>
  <dcterms:modified xsi:type="dcterms:W3CDTF">2021-08-04T05:27:54Z</dcterms:modified>
</cp:coreProperties>
</file>